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CC8490A-8527-FD94-1263-6E0DF6AB5617}">
          <p14:sldIdLst>
            <p14:sldId id="256"/>
            <p14:sldId id="257"/>
          </p14:sldIdLst>
        </p14:section>
        <p14:section name="System" id="{53AA07AA-3636-5335-6469-CA45F4C6AF99}">
          <p14:sldIdLst>
            <p14:sldId id="258"/>
            <p14:sldId id="259"/>
          </p14:sldIdLst>
        </p14:section>
        <p14:section name="Method" id="{2FB35028-1E48-68D0-3303-1A35D6D93BDD}">
          <p14:sldIdLst>
            <p14:sldId id="260"/>
            <p14:sldId id="261"/>
            <p14:sldId id="262"/>
          </p14:sldIdLst>
        </p14:section>
        <p14:section name="Results" id="{12EB5650-5112-6824-743E-735C5D968B34}">
          <p14:sldIdLst>
            <p14:sldId id="263"/>
            <p14:sldId id="264"/>
            <p14:sldId id="265"/>
            <p14:sldId id="266"/>
          </p14:sldIdLst>
        </p14:section>
        <p14:section name="Conclusion" id="{4365178E-072D-C1C2-37D9-5BA4E6A09851}">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7" d="100"/>
          <a:sy n="87" d="100"/>
        </p:scale>
        <p:origin x="499"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600" b="0" i="0" u="none" strike="noStrike">
                <a:solidFill>
                  <a:srgbClr val="2B2F52"/>
                </a:solidFill>
                <a:latin typeface="+mn-lt"/>
              </a:defRPr>
            </a:pPr>
            <a:r>
              <a:rPr sz="1600" b="0" i="0" u="none" strike="noStrike">
                <a:solidFill>
                  <a:srgbClr val="2B2F52"/>
                </a:solidFill>
                <a:latin typeface="+mn-lt"/>
              </a:rPr>
              <a:t>Overall model performance (%)</a:t>
            </a:r>
          </a:p>
        </c:rich>
      </c:tx>
      <c:overlay val="0"/>
    </c:title>
    <c:autoTitleDeleted val="0"/>
    <c:plotArea>
      <c:layout/>
      <c:barChart>
        <c:barDir val="col"/>
        <c:grouping val="clustered"/>
        <c:varyColors val="0"/>
        <c:ser>
          <c:idx val="0"/>
          <c:order val="0"/>
          <c:tx>
            <c:strRef>
              <c:f>Sheet1!$B$1</c:f>
              <c:strCache>
                <c:ptCount val="1"/>
                <c:pt idx="0">
                  <c:v>Score (%)</c:v>
                </c:pt>
              </c:strCache>
            </c:strRef>
          </c:tx>
          <c:spPr>
            <a:solidFill>
              <a:srgbClr val="5B63C4"/>
            </a:solidFill>
            <a:effectLst/>
          </c:spPr>
          <c:invertIfNegative val="0"/>
          <c:dLbls>
            <c:numFmt formatCode="0.00" sourceLinked="0"/>
            <c:spPr>
              <a:noFill/>
              <a:ln>
                <a:noFill/>
              </a:ln>
              <a:effectLst/>
            </c:spPr>
            <c:txPr>
              <a:bodyPr/>
              <a:lstStyle/>
              <a:p>
                <a:pPr>
                  <a:defRPr sz="1400" b="0" i="0" u="none" strike="noStrike">
                    <a:solidFill>
                      <a:srgbClr val="2B2F52"/>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Accuracy</c:v>
                </c:pt>
                <c:pt idx="1">
                  <c:v>Precision</c:v>
                </c:pt>
                <c:pt idx="2">
                  <c:v>Recall</c:v>
                </c:pt>
                <c:pt idx="3">
                  <c:v>F1 score</c:v>
                </c:pt>
              </c:strCache>
            </c:strRef>
          </c:cat>
          <c:val>
            <c:numRef>
              <c:f>Sheet1!$B$2:$B$5</c:f>
              <c:numCache>
                <c:formatCode>General</c:formatCode>
                <c:ptCount val="4"/>
                <c:pt idx="0">
                  <c:v>94.23</c:v>
                </c:pt>
                <c:pt idx="1">
                  <c:v>94.61</c:v>
                </c:pt>
                <c:pt idx="2">
                  <c:v>94.24</c:v>
                </c:pt>
                <c:pt idx="3">
                  <c:v>94.22</c:v>
                </c:pt>
              </c:numCache>
            </c:numRef>
          </c:val>
          <c:extLst>
            <c:ext xmlns:c16="http://schemas.microsoft.com/office/drawing/2014/chart" uri="{C3380CC4-5D6E-409C-BE32-E72D297353CC}">
              <c16:uniqueId val="{00000000-322A-4C2A-A3F8-788A7B763C63}"/>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5F6491"/>
                </a:solidFill>
                <a:latin typeface="+mn-lt"/>
              </a:defRPr>
            </a:pPr>
            <a:endParaRPr lang="en-US"/>
          </a:p>
        </c:txPr>
        <c:crossAx val="2094734552"/>
        <c:crosses val="autoZero"/>
        <c:auto val="1"/>
        <c:lblAlgn val="ctr"/>
        <c:lblOffset val="100"/>
        <c:noMultiLvlLbl val="1"/>
      </c:catAx>
      <c:valAx>
        <c:axId val="2094734552"/>
        <c:scaling>
          <c:orientation val="minMax"/>
          <c:max val="100"/>
          <c:min val="90"/>
        </c:scaling>
        <c:delete val="0"/>
        <c:axPos val="l"/>
        <c:majorGridlines>
          <c:spPr>
            <a:ln w="9525" cap="flat">
              <a:solidFill>
                <a:srgbClr val="E1E4F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F6491"/>
                </a:solidFill>
                <a:latin typeface="+mn-lt"/>
              </a:defRPr>
            </a:pPr>
            <a:endParaRPr lang="en-US"/>
          </a:p>
        </c:txPr>
        <c:crossAx val="2094734554"/>
        <c:crosses val="autoZero"/>
        <c:crossBetween val="between"/>
        <c:majorUnit val="2"/>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60916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SignSathi is a mobile app that recognises Nepali Sign Language fingerspelling from a live camera and turns it into Nepali text and speech, entirely on the phone.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communication gap and few interpreters. Gap in literature: lightweight, real-time, offline NSL recognition on mobile. Three objectives from the report.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through the pipeline. Stress that hand detection happens first, so the classifier only sees hand-structure features, not the whole camera frame.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capabilities. The data collector is a separate Flutter app used to build the 7,200-image dataset.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was collected with our own app: MediaPipe checks hand presence and quality, the hand is cropped and saved. Engineered features make the classifier robust to position and distance.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network by design: two hidden layers, narrowing from 256 to 128. Gaussian noise, batch norm and dropout limit overfitting. TFLite conversion enables on-device use.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Stabilisation is what makes a live camera usable: without it, per-frame predictions flicker and repeat characters. Pause-based boundaries turn confirmed letters into words and sentences.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single-character recognition with 99.9% confidence. Right: letters combined into a Nepali word, with Done, Speak, Undo and Clear controls.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94.23%, precision 94.61%, recall 94.24%, F1 94.22% on the test set. Training and validation loss converge; best epoch around 63.</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mistakes are between signs that look alike; the clearest example is ठ predicted as ट. The class-wise matrix shows where extra data or features would help most.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tests: 28 on the data collector, 32 on the recognition app. System tests: 7 and 10. All passed.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objectives met. Limitations and future work come straight from the report.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rgbClr val="EBEDFB"/>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EBEDFB"/>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10881360" cy="914400"/>
          </a:xfrm>
          <a:prstGeom prst="rect">
            <a:avLst/>
          </a:prstGeom>
          <a:noFill/>
          <a:ln/>
        </p:spPr>
        <p:txBody>
          <a:bodyPr wrap="square" rtlCol="0"/>
          <a:lstStyle>
            <a:lvl1pPr marL="0" indent="0" algn="l">
              <a:buNone/>
              <a:defRPr lang="en-US" sz="4000" b="1" dirty="0">
                <a:solidFill>
                  <a:schemeClr val="tx1"/>
                </a:solidFill>
              </a:defRPr>
            </a:lvl1pPr>
          </a:lstStyle>
          <a:p>
            <a:pPr marL="0" indent="0" algn="l">
              <a:buNone/>
            </a:pPr>
            <a:endParaRPr lang="en-US" sz="4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731520"/>
            <a:ext cx="10515600" cy="365760"/>
          </a:xfrm>
          <a:prstGeom prst="rect">
            <a:avLst/>
          </a:prstGeom>
          <a:noFill/>
          <a:ln/>
        </p:spPr>
        <p:txBody>
          <a:bodyPr wrap="square" lIns="0" tIns="0" rIns="0" bIns="0" rtlCol="0" anchor="ctr"/>
          <a:lstStyle/>
          <a:p>
            <a:pPr marL="0" indent="0">
              <a:buNone/>
            </a:pPr>
            <a:r>
              <a:rPr lang="en-US" sz="1400" b="1" kern="0" spc="300" dirty="0">
                <a:solidFill>
                  <a:schemeClr val="tx2"/>
                </a:solidFill>
              </a:rPr>
              <a:t>FINAL DEFENCE  ·  BACHELOR OF COMPUTER APPLICATION</a:t>
            </a:r>
            <a:endParaRPr lang="en-US" sz="1400" dirty="0"/>
          </a:p>
        </p:txBody>
      </p:sp>
      <p:sp>
        <p:nvSpPr>
          <p:cNvPr id="3" name="Text 1"/>
          <p:cNvSpPr txBox="1"/>
          <p:nvPr/>
        </p:nvSpPr>
        <p:spPr>
          <a:xfrm>
            <a:off x="822960" y="1371600"/>
            <a:ext cx="7315200" cy="1188720"/>
          </a:xfrm>
          <a:prstGeom prst="rect">
            <a:avLst/>
          </a:prstGeom>
          <a:noFill/>
          <a:ln/>
        </p:spPr>
        <p:txBody>
          <a:bodyPr wrap="square" lIns="0" tIns="0" rIns="0" bIns="0" rtlCol="0" anchor="ctr"/>
          <a:lstStyle/>
          <a:p>
            <a:pPr marL="0" indent="0">
              <a:buNone/>
            </a:pPr>
            <a:r>
              <a:rPr lang="en-US" sz="7200" b="1" dirty="0">
                <a:solidFill>
                  <a:schemeClr val="tx1"/>
                </a:solidFill>
                <a:latin typeface="Cambria" pitchFamily="34" charset="0"/>
                <a:ea typeface="Cambria" pitchFamily="34" charset="-122"/>
                <a:cs typeface="Cambria" pitchFamily="34" charset="-120"/>
              </a:rPr>
              <a:t>SignSathi</a:t>
            </a:r>
            <a:endParaRPr lang="en-US" sz="7200" dirty="0"/>
          </a:p>
        </p:txBody>
      </p:sp>
      <p:sp>
        <p:nvSpPr>
          <p:cNvPr id="4" name="Text 2"/>
          <p:cNvSpPr txBox="1"/>
          <p:nvPr/>
        </p:nvSpPr>
        <p:spPr>
          <a:xfrm>
            <a:off x="822960" y="2606040"/>
            <a:ext cx="7498080" cy="548640"/>
          </a:xfrm>
          <a:prstGeom prst="rect">
            <a:avLst/>
          </a:prstGeom>
          <a:noFill/>
          <a:ln/>
        </p:spPr>
        <p:txBody>
          <a:bodyPr wrap="square" lIns="0" tIns="0" rIns="0" bIns="0" rtlCol="0" anchor="ctr"/>
          <a:lstStyle/>
          <a:p>
            <a:pPr marL="0" indent="0">
              <a:buNone/>
            </a:pPr>
            <a:r>
              <a:rPr lang="en-US" sz="2400" b="1" dirty="0">
                <a:solidFill>
                  <a:schemeClr val="accent1"/>
                </a:solidFill>
                <a:latin typeface="Cambria" pitchFamily="34" charset="0"/>
                <a:ea typeface="Cambria" pitchFamily="34" charset="-122"/>
                <a:cs typeface="Cambria" pitchFamily="34" charset="-120"/>
              </a:rPr>
              <a:t>Real-Time Nepali Sign Language Recognition App</a:t>
            </a:r>
            <a:endParaRPr lang="en-US" sz="2400" dirty="0"/>
          </a:p>
        </p:txBody>
      </p:sp>
      <p:sp>
        <p:nvSpPr>
          <p:cNvPr id="5" name="Text 3"/>
          <p:cNvSpPr txBox="1"/>
          <p:nvPr/>
        </p:nvSpPr>
        <p:spPr>
          <a:xfrm>
            <a:off x="822960" y="3291840"/>
            <a:ext cx="7772400" cy="457200"/>
          </a:xfrm>
          <a:prstGeom prst="rect">
            <a:avLst/>
          </a:prstGeom>
          <a:noFill/>
          <a:ln/>
        </p:spPr>
        <p:txBody>
          <a:bodyPr wrap="square" lIns="0" tIns="0" rIns="0" bIns="0" rtlCol="0" anchor="ctr"/>
          <a:lstStyle/>
          <a:p>
            <a:pPr marL="0" indent="0">
              <a:buNone/>
            </a:pPr>
            <a:r>
              <a:rPr lang="en-US" sz="1800" dirty="0">
                <a:solidFill>
                  <a:schemeClr val="tx2"/>
                </a:solidFill>
              </a:rPr>
              <a:t>Fingerspelling to Nepali text and speech, fully on-device for Android</a:t>
            </a:r>
            <a:endParaRPr lang="en-US" sz="1800" dirty="0"/>
          </a:p>
        </p:txBody>
      </p:sp>
      <p:sp>
        <p:nvSpPr>
          <p:cNvPr id="6" name="Team card"/>
          <p:cNvSpPr/>
          <p:nvPr/>
        </p:nvSpPr>
        <p:spPr>
          <a:xfrm>
            <a:off x="822960" y="4480560"/>
            <a:ext cx="6583680" cy="1554480"/>
          </a:xfrm>
          <a:prstGeom prst="roundRect">
            <a:avLst>
              <a:gd name="adj" fmla="val 8824"/>
            </a:avLst>
          </a:prstGeom>
          <a:solidFill>
            <a:schemeClr val="bg1"/>
          </a:solidFill>
          <a:ln w="9525">
            <a:solidFill>
              <a:srgbClr val="E1E4F7"/>
            </a:solidFill>
            <a:prstDash val="solid"/>
          </a:ln>
          <a:effectLst>
            <a:outerShdw blurRad="101600" dist="25400" dir="5400000" algn="bl" rotWithShape="0">
              <a:srgbClr val="5B63C4">
                <a:alpha val="12000"/>
              </a:srgbClr>
            </a:outerShdw>
          </a:effectLst>
        </p:spPr>
      </p:sp>
      <p:sp>
        <p:nvSpPr>
          <p:cNvPr id="7" name="Text 5"/>
          <p:cNvSpPr txBox="1"/>
          <p:nvPr/>
        </p:nvSpPr>
        <p:spPr>
          <a:xfrm>
            <a:off x="1097280" y="4617720"/>
            <a:ext cx="6126480" cy="1280160"/>
          </a:xfrm>
          <a:prstGeom prst="rect">
            <a:avLst/>
          </a:prstGeom>
          <a:noFill/>
          <a:ln/>
        </p:spPr>
        <p:txBody>
          <a:bodyPr wrap="square" lIns="0" tIns="0" rIns="0" bIns="0" rtlCol="0" anchor="ctr"/>
          <a:lstStyle/>
          <a:p>
            <a:pPr marL="0" indent="0">
              <a:spcAft>
                <a:spcPts val="400"/>
              </a:spcAft>
              <a:buNone/>
            </a:pPr>
            <a:r>
              <a:rPr lang="en-US" sz="1800" b="1" dirty="0">
                <a:solidFill>
                  <a:schemeClr val="tx1"/>
                </a:solidFill>
              </a:rPr>
              <a:t>Arjun Raj Acharya &amp; Asha Mohan Tamang</a:t>
            </a:r>
            <a:endParaRPr lang="en-US" sz="1800" dirty="0"/>
          </a:p>
          <a:p>
            <a:pPr marL="0" indent="0">
              <a:spcAft>
                <a:spcPts val="400"/>
              </a:spcAft>
              <a:buNone/>
            </a:pPr>
            <a:r>
              <a:rPr lang="en-US" sz="1600" dirty="0">
                <a:solidFill>
                  <a:schemeClr val="tx2"/>
                </a:solidFill>
              </a:rPr>
              <a:t>Supervisor: Mr. Santosh Neupane</a:t>
            </a:r>
            <a:endParaRPr lang="en-US" sz="1800" dirty="0"/>
          </a:p>
          <a:p>
            <a:pPr marL="0" indent="0">
              <a:spcAft>
                <a:spcPts val="400"/>
              </a:spcAft>
              <a:buNone/>
            </a:pPr>
            <a:r>
              <a:rPr lang="en-US" sz="1600" dirty="0">
                <a:solidFill>
                  <a:schemeClr val="tx2"/>
                </a:solidFill>
              </a:rPr>
              <a:t>Xavier International College  ·  Tribhuvan University</a:t>
            </a:r>
            <a:endParaRPr lang="en-US" sz="1800" dirty="0"/>
          </a:p>
        </p:txBody>
      </p:sp>
      <p:sp>
        <p:nvSpPr>
          <p:cNvPr id="8" name="Motif 1"/>
          <p:cNvSpPr/>
          <p:nvPr/>
        </p:nvSpPr>
        <p:spPr>
          <a:xfrm>
            <a:off x="8869680" y="1097280"/>
            <a:ext cx="2926080" cy="2926080"/>
          </a:xfrm>
          <a:prstGeom prst="ellipse">
            <a:avLst/>
          </a:prstGeom>
          <a:solidFill>
            <a:schemeClr val="accent2"/>
          </a:solidFill>
          <a:ln w="12700">
            <a:solidFill>
              <a:schemeClr val="accent2"/>
            </a:solidFill>
            <a:prstDash val="solid"/>
          </a:ln>
        </p:spPr>
      </p:sp>
      <p:sp>
        <p:nvSpPr>
          <p:cNvPr id="9" name="Motif 2"/>
          <p:cNvSpPr/>
          <p:nvPr/>
        </p:nvSpPr>
        <p:spPr>
          <a:xfrm>
            <a:off x="10241280" y="3383280"/>
            <a:ext cx="1737360" cy="1737360"/>
          </a:xfrm>
          <a:prstGeom prst="ellipse">
            <a:avLst/>
          </a:prstGeom>
          <a:solidFill>
            <a:schemeClr val="accent3"/>
          </a:solidFill>
          <a:ln w="12700">
            <a:solidFill>
              <a:schemeClr val="accent3"/>
            </a:solidFill>
            <a:prstDash val="solid"/>
          </a:ln>
        </p:spPr>
      </p:sp>
      <p:sp>
        <p:nvSpPr>
          <p:cNvPr id="10" name="Motif 3"/>
          <p:cNvSpPr/>
          <p:nvPr/>
        </p:nvSpPr>
        <p:spPr>
          <a:xfrm>
            <a:off x="8503920" y="4114800"/>
            <a:ext cx="1554480" cy="1554480"/>
          </a:xfrm>
          <a:prstGeom prst="ellipse">
            <a:avLst/>
          </a:prstGeom>
          <a:solidFill>
            <a:schemeClr val="accent4"/>
          </a:solidFill>
          <a:ln w="12700">
            <a:solidFill>
              <a:schemeClr val="accent4"/>
            </a:solidFill>
            <a:prstDash val="solid"/>
          </a:ln>
        </p:spPr>
      </p:sp>
      <p:sp>
        <p:nvSpPr>
          <p:cNvPr id="11" name="Text 9"/>
          <p:cNvSpPr txBox="1"/>
          <p:nvPr/>
        </p:nvSpPr>
        <p:spPr>
          <a:xfrm>
            <a:off x="8869680" y="1005840"/>
            <a:ext cx="2926080" cy="2926080"/>
          </a:xfrm>
          <a:prstGeom prst="rect">
            <a:avLst/>
          </a:prstGeom>
          <a:noFill/>
          <a:ln/>
        </p:spPr>
        <p:txBody>
          <a:bodyPr wrap="square" lIns="0" tIns="0" rIns="0" bIns="0" rtlCol="0" anchor="ctr"/>
          <a:lstStyle/>
          <a:p>
            <a:pPr marL="0" indent="0" algn="ctr">
              <a:buNone/>
            </a:pPr>
            <a:r>
              <a:rPr lang="en-US" sz="9600" b="1" dirty="0">
                <a:solidFill>
                  <a:schemeClr val="tx1"/>
                </a:solidFill>
                <a:latin typeface="Cambria" pitchFamily="34" charset="0"/>
                <a:ea typeface="Cambria" pitchFamily="34" charset="-122"/>
                <a:cs typeface="Cambria" pitchFamily="34" charset="-120"/>
              </a:rPr>
              <a:t>36</a:t>
            </a:r>
            <a:endParaRPr lang="en-US" sz="9600" dirty="0"/>
          </a:p>
        </p:txBody>
      </p:sp>
      <p:sp>
        <p:nvSpPr>
          <p:cNvPr id="12" name="Text 10"/>
          <p:cNvSpPr txBox="1"/>
          <p:nvPr/>
        </p:nvSpPr>
        <p:spPr>
          <a:xfrm>
            <a:off x="8869680" y="2926080"/>
            <a:ext cx="2926080" cy="457200"/>
          </a:xfrm>
          <a:prstGeom prst="rect">
            <a:avLst/>
          </a:prstGeom>
          <a:noFill/>
          <a:ln/>
        </p:spPr>
        <p:txBody>
          <a:bodyPr wrap="square" lIns="0" tIns="0" rIns="0" bIns="0" rtlCol="0" anchor="ctr"/>
          <a:lstStyle/>
          <a:p>
            <a:pPr marL="0" indent="0" algn="ctr">
              <a:buNone/>
            </a:pPr>
            <a:r>
              <a:rPr lang="en-US" sz="1500" dirty="0">
                <a:solidFill>
                  <a:schemeClr val="tx1"/>
                </a:solidFill>
              </a:rPr>
              <a:t>Devanagari consonants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10881360" cy="914400"/>
          </a:xfrm>
          <a:prstGeom prst="rect">
            <a:avLst/>
          </a:prstGeom>
          <a:noFill/>
          <a:ln/>
        </p:spPr>
        <p:txBody>
          <a:bodyPr wrap="square" lIns="0" tIns="0" rIns="0" bIns="0" rtlCol="0" anchor="ctr"/>
          <a:lstStyle/>
          <a:p>
            <a:pPr marL="0" indent="0" algn="l">
              <a:buNone/>
            </a:pPr>
            <a:r>
              <a:rPr lang="en-US" sz="4000" b="1" dirty="0">
                <a:solidFill>
                  <a:schemeClr val="tx1"/>
                </a:solidFill>
              </a:rPr>
              <a:t>Problem and objectives</a:t>
            </a:r>
            <a:endParaRPr lang="en-US" sz="4000" dirty="0"/>
          </a:p>
        </p:txBody>
      </p:sp>
      <p:sp>
        <p:nvSpPr>
          <p:cNvPr id="3" name="Problem card"/>
          <p:cNvSpPr/>
          <p:nvPr/>
        </p:nvSpPr>
        <p:spPr>
          <a:xfrm>
            <a:off x="640080" y="1737360"/>
            <a:ext cx="5394960" cy="4206240"/>
          </a:xfrm>
          <a:prstGeom prst="roundRect">
            <a:avLst>
              <a:gd name="adj" fmla="val 3261"/>
            </a:avLst>
          </a:prstGeom>
          <a:solidFill>
            <a:schemeClr val="bg1"/>
          </a:solidFill>
          <a:ln w="9525">
            <a:solidFill>
              <a:srgbClr val="E1E4F7"/>
            </a:solidFill>
            <a:prstDash val="solid"/>
          </a:ln>
          <a:effectLst>
            <a:outerShdw blurRad="101600" dist="25400" dir="5400000" algn="bl" rotWithShape="0">
              <a:srgbClr val="5B63C4">
                <a:alpha val="12000"/>
              </a:srgbClr>
            </a:outerShdw>
          </a:effectLst>
        </p:spPr>
      </p:sp>
      <p:sp>
        <p:nvSpPr>
          <p:cNvPr id="4" name="Text 2"/>
          <p:cNvSpPr txBox="1"/>
          <p:nvPr/>
        </p:nvSpPr>
        <p:spPr>
          <a:xfrm>
            <a:off x="960120" y="1965960"/>
            <a:ext cx="4754880" cy="457200"/>
          </a:xfrm>
          <a:prstGeom prst="rect">
            <a:avLst/>
          </a:prstGeom>
          <a:noFill/>
          <a:ln/>
        </p:spPr>
        <p:txBody>
          <a:bodyPr wrap="square" lIns="0" tIns="0" rIns="0" bIns="0" rtlCol="0" anchor="ctr"/>
          <a:lstStyle/>
          <a:p>
            <a:pPr marL="0" indent="0">
              <a:buNone/>
            </a:pPr>
            <a:r>
              <a:rPr lang="en-US" sz="2200" b="1" dirty="0">
                <a:solidFill>
                  <a:schemeClr val="accent1"/>
                </a:solidFill>
                <a:latin typeface="Cambria" pitchFamily="34" charset="0"/>
                <a:ea typeface="Cambria" pitchFamily="34" charset="-122"/>
                <a:cs typeface="Cambria" pitchFamily="34" charset="-120"/>
              </a:rPr>
              <a:t>The problem</a:t>
            </a:r>
            <a:endParaRPr lang="en-US" sz="2200" dirty="0"/>
          </a:p>
        </p:txBody>
      </p:sp>
      <p:sp>
        <p:nvSpPr>
          <p:cNvPr id="5" name="Text 3"/>
          <p:cNvSpPr txBox="1"/>
          <p:nvPr/>
        </p:nvSpPr>
        <p:spPr>
          <a:xfrm>
            <a:off x="960120" y="2606040"/>
            <a:ext cx="4754880" cy="3108960"/>
          </a:xfrm>
          <a:prstGeom prst="rect">
            <a:avLst/>
          </a:prstGeom>
          <a:noFill/>
          <a:ln/>
        </p:spPr>
        <p:txBody>
          <a:bodyPr wrap="square" lIns="0" tIns="0" rIns="0" bIns="0" rtlCol="0" anchor="t"/>
          <a:lstStyle/>
          <a:p>
            <a:pPr marL="0" indent="0">
              <a:spcAft>
                <a:spcPts val="600"/>
              </a:spcAft>
              <a:buNone/>
            </a:pPr>
            <a:r>
              <a:rPr lang="en-US" sz="2000" dirty="0">
                <a:solidFill>
                  <a:schemeClr val="tx1"/>
                </a:solidFill>
              </a:rPr>
              <a:t>Deaf people in Nepal struggle to communicate with those who do not know Nepali Sign Language. Interpreters are scarce in hospitals, schools, offices and public services. Existing NSL research chases accuracy but rarely delivers a real-time, offline mobile tool.</a:t>
            </a:r>
            <a:endParaRPr lang="en-US" sz="2000" dirty="0"/>
          </a:p>
        </p:txBody>
      </p:sp>
      <p:sp>
        <p:nvSpPr>
          <p:cNvPr id="6" name="Objectives card"/>
          <p:cNvSpPr/>
          <p:nvPr/>
        </p:nvSpPr>
        <p:spPr>
          <a:xfrm>
            <a:off x="6309360" y="1737360"/>
            <a:ext cx="5257800" cy="4206240"/>
          </a:xfrm>
          <a:prstGeom prst="roundRect">
            <a:avLst>
              <a:gd name="adj" fmla="val 3261"/>
            </a:avLst>
          </a:prstGeom>
          <a:solidFill>
            <a:schemeClr val="accent5"/>
          </a:solidFill>
          <a:ln w="9525">
            <a:solidFill>
              <a:srgbClr val="E1E4F7"/>
            </a:solidFill>
            <a:prstDash val="solid"/>
          </a:ln>
          <a:effectLst>
            <a:outerShdw blurRad="101600" dist="25400" dir="5400000" algn="bl" rotWithShape="0">
              <a:srgbClr val="5B63C4">
                <a:alpha val="12000"/>
              </a:srgbClr>
            </a:outerShdw>
          </a:effectLst>
        </p:spPr>
      </p:sp>
      <p:sp>
        <p:nvSpPr>
          <p:cNvPr id="7" name="Text 5"/>
          <p:cNvSpPr txBox="1"/>
          <p:nvPr/>
        </p:nvSpPr>
        <p:spPr>
          <a:xfrm>
            <a:off x="6629400" y="1965960"/>
            <a:ext cx="4663440" cy="457200"/>
          </a:xfrm>
          <a:prstGeom prst="rect">
            <a:avLst/>
          </a:prstGeom>
          <a:noFill/>
          <a:ln/>
        </p:spPr>
        <p:txBody>
          <a:bodyPr wrap="square" lIns="0" tIns="0" rIns="0" bIns="0" rtlCol="0" anchor="ctr"/>
          <a:lstStyle/>
          <a:p>
            <a:pPr marL="0" indent="0">
              <a:buNone/>
            </a:pPr>
            <a:r>
              <a:rPr lang="en-US" sz="2200" b="1" dirty="0">
                <a:solidFill>
                  <a:schemeClr val="accent1"/>
                </a:solidFill>
                <a:latin typeface="Cambria" pitchFamily="34" charset="0"/>
                <a:ea typeface="Cambria" pitchFamily="34" charset="-122"/>
                <a:cs typeface="Cambria" pitchFamily="34" charset="-120"/>
              </a:rPr>
              <a:t>Our objectives</a:t>
            </a:r>
            <a:endParaRPr lang="en-US" sz="2200" dirty="0"/>
          </a:p>
        </p:txBody>
      </p:sp>
      <p:sp>
        <p:nvSpPr>
          <p:cNvPr id="8" name="Text 6"/>
          <p:cNvSpPr txBox="1"/>
          <p:nvPr/>
        </p:nvSpPr>
        <p:spPr>
          <a:xfrm>
            <a:off x="6629400" y="2697480"/>
            <a:ext cx="4617720" cy="310896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chemeClr val="tx1"/>
                </a:solidFill>
              </a:rPr>
              <a:t>Recognise NSL characters from live camera input in real time</a:t>
            </a:r>
            <a:endParaRPr lang="en-US" sz="2000" dirty="0"/>
          </a:p>
          <a:p>
            <a:pPr marL="342900" indent="-342900">
              <a:spcAft>
                <a:spcPts val="800"/>
              </a:spcAft>
              <a:buSzPct val="100000"/>
              <a:buChar char="•"/>
            </a:pPr>
            <a:r>
              <a:rPr lang="en-US" sz="2000" dirty="0">
                <a:solidFill>
                  <a:schemeClr val="tx1"/>
                </a:solidFill>
              </a:rPr>
              <a:t>Build a user-friendly mobile app that outputs Nepali text and speech</a:t>
            </a:r>
            <a:endParaRPr lang="en-US" sz="2000" dirty="0"/>
          </a:p>
          <a:p>
            <a:pPr marL="342900" indent="-342900">
              <a:spcAft>
                <a:spcPts val="800"/>
              </a:spcAft>
              <a:buSzPct val="100000"/>
              <a:buChar char="•"/>
            </a:pPr>
            <a:r>
              <a:rPr lang="en-US" sz="2000" dirty="0">
                <a:solidFill>
                  <a:schemeClr val="tx1"/>
                </a:solidFill>
              </a:rPr>
              <a:t>Evaluate reliability through performance measures and testing</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10881360" cy="914400"/>
          </a:xfrm>
          <a:prstGeom prst="rect">
            <a:avLst/>
          </a:prstGeom>
          <a:noFill/>
          <a:ln/>
        </p:spPr>
        <p:txBody>
          <a:bodyPr wrap="square" lIns="0" tIns="0" rIns="0" bIns="0" rtlCol="0" anchor="ctr"/>
          <a:lstStyle/>
          <a:p>
            <a:pPr marL="0" indent="0" algn="l">
              <a:buNone/>
            </a:pPr>
            <a:r>
              <a:rPr lang="en-US" sz="4000" b="1" dirty="0">
                <a:solidFill>
                  <a:schemeClr val="tx1"/>
                </a:solidFill>
              </a:rPr>
              <a:t>How SignSathi works</a:t>
            </a:r>
            <a:endParaRPr lang="en-US" sz="4000" dirty="0"/>
          </a:p>
        </p:txBody>
      </p:sp>
      <p:sp>
        <p:nvSpPr>
          <p:cNvPr id="3" name="Step 1"/>
          <p:cNvSpPr/>
          <p:nvPr/>
        </p:nvSpPr>
        <p:spPr>
          <a:xfrm>
            <a:off x="640080" y="1737360"/>
            <a:ext cx="2011680" cy="3017520"/>
          </a:xfrm>
          <a:prstGeom prst="roundRect">
            <a:avLst>
              <a:gd name="adj" fmla="val 6818"/>
            </a:avLst>
          </a:prstGeom>
          <a:solidFill>
            <a:schemeClr val="bg1"/>
          </a:solidFill>
          <a:ln w="9525">
            <a:solidFill>
              <a:srgbClr val="E1E4F7"/>
            </a:solidFill>
            <a:prstDash val="solid"/>
          </a:ln>
          <a:effectLst>
            <a:outerShdw blurRad="101600" dist="25400" dir="5400000" algn="bl" rotWithShape="0">
              <a:srgbClr val="5B63C4">
                <a:alpha val="12000"/>
              </a:srgbClr>
            </a:outerShdw>
          </a:effectLst>
        </p:spPr>
      </p:sp>
      <p:sp>
        <p:nvSpPr>
          <p:cNvPr id="4" name="Step 1 badge"/>
          <p:cNvSpPr/>
          <p:nvPr/>
        </p:nvSpPr>
        <p:spPr>
          <a:xfrm>
            <a:off x="868680" y="1965960"/>
            <a:ext cx="594360" cy="594360"/>
          </a:xfrm>
          <a:prstGeom prst="ellipse">
            <a:avLst/>
          </a:prstGeom>
          <a:solidFill>
            <a:schemeClr val="accent2"/>
          </a:solidFill>
          <a:ln w="12700">
            <a:solidFill>
              <a:schemeClr val="accent2"/>
            </a:solidFill>
            <a:prstDash val="solid"/>
          </a:ln>
        </p:spPr>
      </p:sp>
      <p:sp>
        <p:nvSpPr>
          <p:cNvPr id="5" name="Step 1 number"/>
          <p:cNvSpPr txBox="1"/>
          <p:nvPr/>
        </p:nvSpPr>
        <p:spPr>
          <a:xfrm>
            <a:off x="868680" y="1965960"/>
            <a:ext cx="594360" cy="594360"/>
          </a:xfrm>
          <a:prstGeom prst="rect">
            <a:avLst/>
          </a:prstGeom>
          <a:noFill/>
          <a:ln/>
        </p:spPr>
        <p:txBody>
          <a:bodyPr wrap="square" lIns="0" tIns="0" rIns="0" bIns="0" rtlCol="0" anchor="ctr"/>
          <a:lstStyle/>
          <a:p>
            <a:pPr marL="0" indent="0" algn="ctr">
              <a:buNone/>
            </a:pPr>
            <a:r>
              <a:rPr lang="en-US" sz="1800" b="1" dirty="0">
                <a:solidFill>
                  <a:schemeClr val="tx1"/>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868680" y="2743200"/>
            <a:ext cx="1645920" cy="457200"/>
          </a:xfrm>
          <a:prstGeom prst="rect">
            <a:avLst/>
          </a:prstGeom>
          <a:noFill/>
          <a:ln/>
        </p:spPr>
        <p:txBody>
          <a:bodyPr wrap="square" lIns="0" tIns="0" rIns="0" bIns="0" rtlCol="0" anchor="ctr"/>
          <a:lstStyle/>
          <a:p>
            <a:pPr marL="0" indent="0">
              <a:buNone/>
            </a:pPr>
            <a:r>
              <a:rPr lang="en-US" sz="1900" b="1" dirty="0">
                <a:solidFill>
                  <a:schemeClr val="accent1"/>
                </a:solidFill>
                <a:latin typeface="Cambria" pitchFamily="34" charset="0"/>
                <a:ea typeface="Cambria" pitchFamily="34" charset="-122"/>
                <a:cs typeface="Cambria" pitchFamily="34" charset="-120"/>
              </a:rPr>
              <a:t>Camera</a:t>
            </a:r>
            <a:endParaRPr lang="en-US" sz="1900" dirty="0"/>
          </a:p>
        </p:txBody>
      </p:sp>
      <p:sp>
        <p:nvSpPr>
          <p:cNvPr id="7" name="Text 5"/>
          <p:cNvSpPr txBox="1"/>
          <p:nvPr/>
        </p:nvSpPr>
        <p:spPr>
          <a:xfrm>
            <a:off x="868680" y="3246120"/>
            <a:ext cx="1645920" cy="1371600"/>
          </a:xfrm>
          <a:prstGeom prst="rect">
            <a:avLst/>
          </a:prstGeom>
          <a:noFill/>
          <a:ln/>
        </p:spPr>
        <p:txBody>
          <a:bodyPr wrap="square" lIns="0" tIns="0" rIns="0" bIns="0" rtlCol="0" anchor="t"/>
          <a:lstStyle/>
          <a:p>
            <a:pPr marL="0" indent="0">
              <a:buNone/>
            </a:pPr>
            <a:r>
              <a:rPr lang="en-US" sz="1600" dirty="0">
                <a:solidFill>
                  <a:schemeClr val="tx2"/>
                </a:solidFill>
              </a:rPr>
              <a:t>Live frames from the phone camera</a:t>
            </a:r>
            <a:endParaRPr lang="en-US" sz="1600" dirty="0"/>
          </a:p>
        </p:txBody>
      </p:sp>
      <p:sp>
        <p:nvSpPr>
          <p:cNvPr id="8" name="Step 2"/>
          <p:cNvSpPr/>
          <p:nvPr/>
        </p:nvSpPr>
        <p:spPr>
          <a:xfrm>
            <a:off x="2834640" y="1737360"/>
            <a:ext cx="2011680" cy="3017520"/>
          </a:xfrm>
          <a:prstGeom prst="roundRect">
            <a:avLst>
              <a:gd name="adj" fmla="val 6818"/>
            </a:avLst>
          </a:prstGeom>
          <a:solidFill>
            <a:schemeClr val="bg1"/>
          </a:solidFill>
          <a:ln w="9525">
            <a:solidFill>
              <a:srgbClr val="E1E4F7"/>
            </a:solidFill>
            <a:prstDash val="solid"/>
          </a:ln>
          <a:effectLst>
            <a:outerShdw blurRad="101600" dist="25400" dir="5400000" algn="bl" rotWithShape="0">
              <a:srgbClr val="5B63C4">
                <a:alpha val="12000"/>
              </a:srgbClr>
            </a:outerShdw>
          </a:effectLst>
        </p:spPr>
      </p:sp>
      <p:sp>
        <p:nvSpPr>
          <p:cNvPr id="9" name="Step 2 badge"/>
          <p:cNvSpPr/>
          <p:nvPr/>
        </p:nvSpPr>
        <p:spPr>
          <a:xfrm>
            <a:off x="3063240" y="1965960"/>
            <a:ext cx="594360" cy="594360"/>
          </a:xfrm>
          <a:prstGeom prst="ellipse">
            <a:avLst/>
          </a:prstGeom>
          <a:solidFill>
            <a:schemeClr val="accent3"/>
          </a:solidFill>
          <a:ln w="12700">
            <a:solidFill>
              <a:schemeClr val="accent3"/>
            </a:solidFill>
            <a:prstDash val="solid"/>
          </a:ln>
        </p:spPr>
      </p:sp>
      <p:sp>
        <p:nvSpPr>
          <p:cNvPr id="10" name="Step 2 number"/>
          <p:cNvSpPr txBox="1"/>
          <p:nvPr/>
        </p:nvSpPr>
        <p:spPr>
          <a:xfrm>
            <a:off x="3063240" y="1965960"/>
            <a:ext cx="594360" cy="594360"/>
          </a:xfrm>
          <a:prstGeom prst="rect">
            <a:avLst/>
          </a:prstGeom>
          <a:noFill/>
          <a:ln/>
        </p:spPr>
        <p:txBody>
          <a:bodyPr wrap="square" lIns="0" tIns="0" rIns="0" bIns="0" rtlCol="0" anchor="ctr"/>
          <a:lstStyle/>
          <a:p>
            <a:pPr marL="0" indent="0" algn="ctr">
              <a:buNone/>
            </a:pPr>
            <a:r>
              <a:rPr lang="en-US" sz="1800" b="1" dirty="0">
                <a:solidFill>
                  <a:schemeClr val="tx1"/>
                </a:solidFill>
                <a:latin typeface="Cambria" pitchFamily="34" charset="0"/>
                <a:ea typeface="Cambria" pitchFamily="34" charset="-122"/>
                <a:cs typeface="Cambria" pitchFamily="34" charset="-120"/>
              </a:rPr>
              <a:t>2</a:t>
            </a:r>
            <a:endParaRPr lang="en-US" sz="1800" dirty="0"/>
          </a:p>
        </p:txBody>
      </p:sp>
      <p:sp>
        <p:nvSpPr>
          <p:cNvPr id="11" name="Text 9"/>
          <p:cNvSpPr txBox="1"/>
          <p:nvPr/>
        </p:nvSpPr>
        <p:spPr>
          <a:xfrm>
            <a:off x="3063240" y="2743200"/>
            <a:ext cx="1645920" cy="457200"/>
          </a:xfrm>
          <a:prstGeom prst="rect">
            <a:avLst/>
          </a:prstGeom>
          <a:noFill/>
          <a:ln/>
        </p:spPr>
        <p:txBody>
          <a:bodyPr wrap="square" lIns="0" tIns="0" rIns="0" bIns="0" rtlCol="0" anchor="ctr"/>
          <a:lstStyle/>
          <a:p>
            <a:pPr marL="0" indent="0">
              <a:buNone/>
            </a:pPr>
            <a:r>
              <a:rPr lang="en-US" sz="1900" b="1" dirty="0">
                <a:solidFill>
                  <a:schemeClr val="accent1"/>
                </a:solidFill>
                <a:latin typeface="Cambria" pitchFamily="34" charset="0"/>
                <a:ea typeface="Cambria" pitchFamily="34" charset="-122"/>
                <a:cs typeface="Cambria" pitchFamily="34" charset="-120"/>
              </a:rPr>
              <a:t>MediaPipe</a:t>
            </a:r>
            <a:endParaRPr lang="en-US" sz="1900" dirty="0"/>
          </a:p>
        </p:txBody>
      </p:sp>
      <p:sp>
        <p:nvSpPr>
          <p:cNvPr id="12" name="Text 10"/>
          <p:cNvSpPr txBox="1"/>
          <p:nvPr/>
        </p:nvSpPr>
        <p:spPr>
          <a:xfrm>
            <a:off x="3063240" y="3246120"/>
            <a:ext cx="1645920" cy="1371600"/>
          </a:xfrm>
          <a:prstGeom prst="rect">
            <a:avLst/>
          </a:prstGeom>
          <a:noFill/>
          <a:ln/>
        </p:spPr>
        <p:txBody>
          <a:bodyPr wrap="square" lIns="0" tIns="0" rIns="0" bIns="0" rtlCol="0" anchor="t"/>
          <a:lstStyle/>
          <a:p>
            <a:pPr marL="0" indent="0">
              <a:buNone/>
            </a:pPr>
            <a:r>
              <a:rPr lang="en-US" sz="1600" dirty="0">
                <a:solidFill>
                  <a:schemeClr val="tx2"/>
                </a:solidFill>
              </a:rPr>
              <a:t>Hand detected; 21 landmarks, 63 x-y-z values</a:t>
            </a:r>
            <a:endParaRPr lang="en-US" sz="1600" dirty="0"/>
          </a:p>
        </p:txBody>
      </p:sp>
      <p:sp>
        <p:nvSpPr>
          <p:cNvPr id="13" name="Step 3"/>
          <p:cNvSpPr/>
          <p:nvPr/>
        </p:nvSpPr>
        <p:spPr>
          <a:xfrm>
            <a:off x="5029200" y="1737360"/>
            <a:ext cx="2011680" cy="3017520"/>
          </a:xfrm>
          <a:prstGeom prst="roundRect">
            <a:avLst>
              <a:gd name="adj" fmla="val 6818"/>
            </a:avLst>
          </a:prstGeom>
          <a:solidFill>
            <a:schemeClr val="bg1"/>
          </a:solidFill>
          <a:ln w="9525">
            <a:solidFill>
              <a:srgbClr val="E1E4F7"/>
            </a:solidFill>
            <a:prstDash val="solid"/>
          </a:ln>
          <a:effectLst>
            <a:outerShdw blurRad="101600" dist="25400" dir="5400000" algn="bl" rotWithShape="0">
              <a:srgbClr val="5B63C4">
                <a:alpha val="12000"/>
              </a:srgbClr>
            </a:outerShdw>
          </a:effectLst>
        </p:spPr>
      </p:sp>
      <p:sp>
        <p:nvSpPr>
          <p:cNvPr id="14" name="Step 3 badge"/>
          <p:cNvSpPr/>
          <p:nvPr/>
        </p:nvSpPr>
        <p:spPr>
          <a:xfrm>
            <a:off x="5257800" y="1965960"/>
            <a:ext cx="594360" cy="594360"/>
          </a:xfrm>
          <a:prstGeom prst="ellipse">
            <a:avLst/>
          </a:prstGeom>
          <a:solidFill>
            <a:schemeClr val="accent4"/>
          </a:solidFill>
          <a:ln w="12700">
            <a:solidFill>
              <a:schemeClr val="accent4"/>
            </a:solidFill>
            <a:prstDash val="solid"/>
          </a:ln>
        </p:spPr>
      </p:sp>
      <p:sp>
        <p:nvSpPr>
          <p:cNvPr id="15" name="Step 3 number"/>
          <p:cNvSpPr txBox="1"/>
          <p:nvPr/>
        </p:nvSpPr>
        <p:spPr>
          <a:xfrm>
            <a:off x="5257800" y="1965960"/>
            <a:ext cx="594360" cy="594360"/>
          </a:xfrm>
          <a:prstGeom prst="rect">
            <a:avLst/>
          </a:prstGeom>
          <a:noFill/>
          <a:ln/>
        </p:spPr>
        <p:txBody>
          <a:bodyPr wrap="square" lIns="0" tIns="0" rIns="0" bIns="0" rtlCol="0" anchor="ctr"/>
          <a:lstStyle/>
          <a:p>
            <a:pPr marL="0" indent="0" algn="ctr">
              <a:buNone/>
            </a:pPr>
            <a:r>
              <a:rPr lang="en-US" sz="1800" b="1" dirty="0">
                <a:solidFill>
                  <a:schemeClr val="tx1"/>
                </a:solidFill>
                <a:latin typeface="Cambria" pitchFamily="34" charset="0"/>
                <a:ea typeface="Cambria" pitchFamily="34" charset="-122"/>
                <a:cs typeface="Cambria" pitchFamily="34" charset="-120"/>
              </a:rPr>
              <a:t>3</a:t>
            </a:r>
            <a:endParaRPr lang="en-US" sz="1800" dirty="0"/>
          </a:p>
        </p:txBody>
      </p:sp>
      <p:sp>
        <p:nvSpPr>
          <p:cNvPr id="16" name="Text 14"/>
          <p:cNvSpPr txBox="1"/>
          <p:nvPr/>
        </p:nvSpPr>
        <p:spPr>
          <a:xfrm>
            <a:off x="5257800" y="2743200"/>
            <a:ext cx="1645920" cy="457200"/>
          </a:xfrm>
          <a:prstGeom prst="rect">
            <a:avLst/>
          </a:prstGeom>
          <a:noFill/>
          <a:ln/>
        </p:spPr>
        <p:txBody>
          <a:bodyPr wrap="square" lIns="0" tIns="0" rIns="0" bIns="0" rtlCol="0" anchor="ctr"/>
          <a:lstStyle/>
          <a:p>
            <a:pPr marL="0" indent="0">
              <a:buNone/>
            </a:pPr>
            <a:r>
              <a:rPr lang="en-US" sz="1900" b="1" dirty="0">
                <a:solidFill>
                  <a:schemeClr val="accent1"/>
                </a:solidFill>
                <a:latin typeface="Cambria" pitchFamily="34" charset="0"/>
                <a:ea typeface="Cambria" pitchFamily="34" charset="-122"/>
                <a:cs typeface="Cambria" pitchFamily="34" charset="-120"/>
              </a:rPr>
              <a:t>MLP classifier</a:t>
            </a:r>
            <a:endParaRPr lang="en-US" sz="1900" dirty="0"/>
          </a:p>
        </p:txBody>
      </p:sp>
      <p:sp>
        <p:nvSpPr>
          <p:cNvPr id="17" name="Text 15"/>
          <p:cNvSpPr txBox="1"/>
          <p:nvPr/>
        </p:nvSpPr>
        <p:spPr>
          <a:xfrm>
            <a:off x="5257800" y="3246120"/>
            <a:ext cx="1645920" cy="1371600"/>
          </a:xfrm>
          <a:prstGeom prst="rect">
            <a:avLst/>
          </a:prstGeom>
          <a:noFill/>
          <a:ln/>
        </p:spPr>
        <p:txBody>
          <a:bodyPr wrap="square" lIns="0" tIns="0" rIns="0" bIns="0" rtlCol="0" anchor="t"/>
          <a:lstStyle/>
          <a:p>
            <a:pPr marL="0" indent="0">
              <a:buNone/>
            </a:pPr>
            <a:r>
              <a:rPr lang="en-US" sz="1600" dirty="0">
                <a:solidFill>
                  <a:schemeClr val="tx2"/>
                </a:solidFill>
              </a:rPr>
              <a:t>78-feature vector to one of 36 characters (TFLite)</a:t>
            </a:r>
            <a:endParaRPr lang="en-US" sz="1600" dirty="0"/>
          </a:p>
        </p:txBody>
      </p:sp>
      <p:sp>
        <p:nvSpPr>
          <p:cNvPr id="18" name="Step 4"/>
          <p:cNvSpPr/>
          <p:nvPr/>
        </p:nvSpPr>
        <p:spPr>
          <a:xfrm>
            <a:off x="7223760" y="1737360"/>
            <a:ext cx="2011680" cy="3017520"/>
          </a:xfrm>
          <a:prstGeom prst="roundRect">
            <a:avLst>
              <a:gd name="adj" fmla="val 6818"/>
            </a:avLst>
          </a:prstGeom>
          <a:solidFill>
            <a:schemeClr val="bg1"/>
          </a:solidFill>
          <a:ln w="9525">
            <a:solidFill>
              <a:srgbClr val="E1E4F7"/>
            </a:solidFill>
            <a:prstDash val="solid"/>
          </a:ln>
          <a:effectLst>
            <a:outerShdw blurRad="101600" dist="25400" dir="5400000" algn="bl" rotWithShape="0">
              <a:srgbClr val="5B63C4">
                <a:alpha val="12000"/>
              </a:srgbClr>
            </a:outerShdw>
          </a:effectLst>
        </p:spPr>
      </p:sp>
      <p:sp>
        <p:nvSpPr>
          <p:cNvPr id="19" name="Step 4 badge"/>
          <p:cNvSpPr/>
          <p:nvPr/>
        </p:nvSpPr>
        <p:spPr>
          <a:xfrm>
            <a:off x="7452360" y="1965960"/>
            <a:ext cx="594360" cy="594360"/>
          </a:xfrm>
          <a:prstGeom prst="ellipse">
            <a:avLst/>
          </a:prstGeom>
          <a:solidFill>
            <a:schemeClr val="accent2"/>
          </a:solidFill>
          <a:ln w="12700">
            <a:solidFill>
              <a:schemeClr val="accent2"/>
            </a:solidFill>
            <a:prstDash val="solid"/>
          </a:ln>
        </p:spPr>
      </p:sp>
      <p:sp>
        <p:nvSpPr>
          <p:cNvPr id="20" name="Step 4 number"/>
          <p:cNvSpPr txBox="1"/>
          <p:nvPr/>
        </p:nvSpPr>
        <p:spPr>
          <a:xfrm>
            <a:off x="7452360" y="1965960"/>
            <a:ext cx="594360" cy="594360"/>
          </a:xfrm>
          <a:prstGeom prst="rect">
            <a:avLst/>
          </a:prstGeom>
          <a:noFill/>
          <a:ln/>
        </p:spPr>
        <p:txBody>
          <a:bodyPr wrap="square" lIns="0" tIns="0" rIns="0" bIns="0" rtlCol="0" anchor="ctr"/>
          <a:lstStyle/>
          <a:p>
            <a:pPr marL="0" indent="0" algn="ctr">
              <a:buNone/>
            </a:pPr>
            <a:r>
              <a:rPr lang="en-US" sz="1800" b="1" dirty="0">
                <a:solidFill>
                  <a:schemeClr val="tx1"/>
                </a:solidFill>
                <a:latin typeface="Cambria" pitchFamily="34" charset="0"/>
                <a:ea typeface="Cambria" pitchFamily="34" charset="-122"/>
                <a:cs typeface="Cambria" pitchFamily="34" charset="-120"/>
              </a:rPr>
              <a:t>4</a:t>
            </a:r>
            <a:endParaRPr lang="en-US" sz="1800" dirty="0"/>
          </a:p>
        </p:txBody>
      </p:sp>
      <p:sp>
        <p:nvSpPr>
          <p:cNvPr id="21" name="Text 19"/>
          <p:cNvSpPr txBox="1"/>
          <p:nvPr/>
        </p:nvSpPr>
        <p:spPr>
          <a:xfrm>
            <a:off x="7452360" y="2743200"/>
            <a:ext cx="1645920" cy="457200"/>
          </a:xfrm>
          <a:prstGeom prst="rect">
            <a:avLst/>
          </a:prstGeom>
          <a:noFill/>
          <a:ln/>
        </p:spPr>
        <p:txBody>
          <a:bodyPr wrap="square" lIns="0" tIns="0" rIns="0" bIns="0" rtlCol="0" anchor="ctr"/>
          <a:lstStyle/>
          <a:p>
            <a:pPr marL="0" indent="0">
              <a:buNone/>
            </a:pPr>
            <a:r>
              <a:rPr lang="en-US" sz="1900" b="1" dirty="0">
                <a:solidFill>
                  <a:schemeClr val="accent1"/>
                </a:solidFill>
                <a:latin typeface="Cambria" pitchFamily="34" charset="0"/>
                <a:ea typeface="Cambria" pitchFamily="34" charset="-122"/>
                <a:cs typeface="Cambria" pitchFamily="34" charset="-120"/>
              </a:rPr>
              <a:t>Stabiliser</a:t>
            </a:r>
            <a:endParaRPr lang="en-US" sz="1900" dirty="0"/>
          </a:p>
        </p:txBody>
      </p:sp>
      <p:sp>
        <p:nvSpPr>
          <p:cNvPr id="22" name="Text 20"/>
          <p:cNvSpPr txBox="1"/>
          <p:nvPr/>
        </p:nvSpPr>
        <p:spPr>
          <a:xfrm>
            <a:off x="7452360" y="3246120"/>
            <a:ext cx="1645920" cy="1371600"/>
          </a:xfrm>
          <a:prstGeom prst="rect">
            <a:avLst/>
          </a:prstGeom>
          <a:noFill/>
          <a:ln/>
        </p:spPr>
        <p:txBody>
          <a:bodyPr wrap="square" lIns="0" tIns="0" rIns="0" bIns="0" rtlCol="0" anchor="t"/>
          <a:lstStyle/>
          <a:p>
            <a:pPr marL="0" indent="0">
              <a:buNone/>
            </a:pPr>
            <a:r>
              <a:rPr lang="en-US" sz="1600" dirty="0">
                <a:solidFill>
                  <a:schemeClr val="tx2"/>
                </a:solidFill>
              </a:rPr>
              <a:t>Character confirmed across consecutive frames; pauses form words</a:t>
            </a:r>
            <a:endParaRPr lang="en-US" sz="1600" dirty="0"/>
          </a:p>
        </p:txBody>
      </p:sp>
      <p:sp>
        <p:nvSpPr>
          <p:cNvPr id="23" name="Step 5"/>
          <p:cNvSpPr/>
          <p:nvPr/>
        </p:nvSpPr>
        <p:spPr>
          <a:xfrm>
            <a:off x="9418320" y="1737360"/>
            <a:ext cx="2011680" cy="3017520"/>
          </a:xfrm>
          <a:prstGeom prst="roundRect">
            <a:avLst>
              <a:gd name="adj" fmla="val 6818"/>
            </a:avLst>
          </a:prstGeom>
          <a:solidFill>
            <a:schemeClr val="bg1"/>
          </a:solidFill>
          <a:ln w="9525">
            <a:solidFill>
              <a:srgbClr val="E1E4F7"/>
            </a:solidFill>
            <a:prstDash val="solid"/>
          </a:ln>
          <a:effectLst>
            <a:outerShdw blurRad="101600" dist="25400" dir="5400000" algn="bl" rotWithShape="0">
              <a:srgbClr val="5B63C4">
                <a:alpha val="12000"/>
              </a:srgbClr>
            </a:outerShdw>
          </a:effectLst>
        </p:spPr>
      </p:sp>
      <p:sp>
        <p:nvSpPr>
          <p:cNvPr id="24" name="Step 5 badge"/>
          <p:cNvSpPr/>
          <p:nvPr/>
        </p:nvSpPr>
        <p:spPr>
          <a:xfrm>
            <a:off x="9646920" y="1965960"/>
            <a:ext cx="594360" cy="594360"/>
          </a:xfrm>
          <a:prstGeom prst="ellipse">
            <a:avLst/>
          </a:prstGeom>
          <a:solidFill>
            <a:schemeClr val="accent3"/>
          </a:solidFill>
          <a:ln w="12700">
            <a:solidFill>
              <a:schemeClr val="accent3"/>
            </a:solidFill>
            <a:prstDash val="solid"/>
          </a:ln>
        </p:spPr>
      </p:sp>
      <p:sp>
        <p:nvSpPr>
          <p:cNvPr id="25" name="Step 5 number"/>
          <p:cNvSpPr txBox="1"/>
          <p:nvPr/>
        </p:nvSpPr>
        <p:spPr>
          <a:xfrm>
            <a:off x="9646920" y="1965960"/>
            <a:ext cx="594360" cy="594360"/>
          </a:xfrm>
          <a:prstGeom prst="rect">
            <a:avLst/>
          </a:prstGeom>
          <a:noFill/>
          <a:ln/>
        </p:spPr>
        <p:txBody>
          <a:bodyPr wrap="square" lIns="0" tIns="0" rIns="0" bIns="0" rtlCol="0" anchor="ctr"/>
          <a:lstStyle/>
          <a:p>
            <a:pPr marL="0" indent="0" algn="ctr">
              <a:buNone/>
            </a:pPr>
            <a:r>
              <a:rPr lang="en-US" sz="1800" b="1" dirty="0">
                <a:solidFill>
                  <a:schemeClr val="tx1"/>
                </a:solidFill>
                <a:latin typeface="Cambria" pitchFamily="34" charset="0"/>
                <a:ea typeface="Cambria" pitchFamily="34" charset="-122"/>
                <a:cs typeface="Cambria" pitchFamily="34" charset="-120"/>
              </a:rPr>
              <a:t>5</a:t>
            </a:r>
            <a:endParaRPr lang="en-US" sz="1800" dirty="0"/>
          </a:p>
        </p:txBody>
      </p:sp>
      <p:sp>
        <p:nvSpPr>
          <p:cNvPr id="26" name="Text 24"/>
          <p:cNvSpPr txBox="1"/>
          <p:nvPr/>
        </p:nvSpPr>
        <p:spPr>
          <a:xfrm>
            <a:off x="9646920" y="2743200"/>
            <a:ext cx="1645920" cy="457200"/>
          </a:xfrm>
          <a:prstGeom prst="rect">
            <a:avLst/>
          </a:prstGeom>
          <a:noFill/>
          <a:ln/>
        </p:spPr>
        <p:txBody>
          <a:bodyPr wrap="square" lIns="0" tIns="0" rIns="0" bIns="0" rtlCol="0" anchor="ctr"/>
          <a:lstStyle/>
          <a:p>
            <a:pPr marL="0" indent="0">
              <a:buNone/>
            </a:pPr>
            <a:r>
              <a:rPr lang="en-US" sz="1900" b="1" dirty="0">
                <a:solidFill>
                  <a:schemeClr val="accent1"/>
                </a:solidFill>
                <a:latin typeface="Cambria" pitchFamily="34" charset="0"/>
                <a:ea typeface="Cambria" pitchFamily="34" charset="-122"/>
                <a:cs typeface="Cambria" pitchFamily="34" charset="-120"/>
              </a:rPr>
              <a:t>Speech</a:t>
            </a:r>
            <a:endParaRPr lang="en-US" sz="1900" dirty="0"/>
          </a:p>
        </p:txBody>
      </p:sp>
      <p:sp>
        <p:nvSpPr>
          <p:cNvPr id="27" name="Text 25"/>
          <p:cNvSpPr txBox="1"/>
          <p:nvPr/>
        </p:nvSpPr>
        <p:spPr>
          <a:xfrm>
            <a:off x="9646920" y="3246120"/>
            <a:ext cx="1645920" cy="1371600"/>
          </a:xfrm>
          <a:prstGeom prst="rect">
            <a:avLst/>
          </a:prstGeom>
          <a:noFill/>
          <a:ln/>
        </p:spPr>
        <p:txBody>
          <a:bodyPr wrap="square" lIns="0" tIns="0" rIns="0" bIns="0" rtlCol="0" anchor="t"/>
          <a:lstStyle/>
          <a:p>
            <a:pPr marL="0" indent="0">
              <a:buNone/>
            </a:pPr>
            <a:r>
              <a:rPr lang="en-US" sz="1600" dirty="0">
                <a:solidFill>
                  <a:schemeClr val="tx2"/>
                </a:solidFill>
              </a:rPr>
              <a:t>Nepali text shown, then spoken with text-to-speech</a:t>
            </a:r>
            <a:endParaRPr lang="en-US" sz="1600" dirty="0"/>
          </a:p>
        </p:txBody>
      </p:sp>
      <p:sp>
        <p:nvSpPr>
          <p:cNvPr id="28" name="Text 26"/>
          <p:cNvSpPr txBox="1"/>
          <p:nvPr/>
        </p:nvSpPr>
        <p:spPr>
          <a:xfrm>
            <a:off x="640080" y="5074920"/>
            <a:ext cx="10881360" cy="822960"/>
          </a:xfrm>
          <a:prstGeom prst="rect">
            <a:avLst/>
          </a:prstGeom>
          <a:noFill/>
          <a:ln/>
        </p:spPr>
        <p:txBody>
          <a:bodyPr wrap="square" lIns="0" tIns="0" rIns="0" bIns="0" rtlCol="0" anchor="t"/>
          <a:lstStyle/>
          <a:p>
            <a:pPr marL="0" indent="0">
              <a:buNone/>
            </a:pPr>
            <a:r>
              <a:rPr lang="en-US" sz="2000" dirty="0">
                <a:solidFill>
                  <a:schemeClr val="tx1"/>
                </a:solidFill>
              </a:rPr>
              <a:t>Everything runs on the device: no server, no internet. Built with Flutter and Dart, MediaPipe, TensorFlow Lite and Android text-to-speech.</a:t>
            </a:r>
            <a:endParaRPr lang="en-US" sz="2000" dirty="0"/>
          </a:p>
        </p:txBody>
      </p:sp>
      <p:sp>
        <p:nvSpPr>
          <p:cNvPr id="29" name="Text 27"/>
          <p:cNvSpPr txBox="1"/>
          <p:nvPr/>
        </p:nvSpPr>
        <p:spPr>
          <a:xfrm>
            <a:off x="640080" y="5897880"/>
            <a:ext cx="10881360" cy="365760"/>
          </a:xfrm>
          <a:prstGeom prst="rect">
            <a:avLst/>
          </a:prstGeom>
          <a:noFill/>
          <a:ln/>
        </p:spPr>
        <p:txBody>
          <a:bodyPr wrap="square" lIns="0" tIns="0" rIns="0" bIns="0" rtlCol="0" anchor="ctr"/>
          <a:lstStyle/>
          <a:p>
            <a:pPr marL="0" indent="0">
              <a:buNone/>
            </a:pPr>
            <a:r>
              <a:rPr lang="en-US" sz="1400" dirty="0">
                <a:solidFill>
                  <a:schemeClr val="tx2"/>
                </a:solidFill>
              </a:rPr>
              <a:t>Method: Waterfall with iterative model and app development</a:t>
            </a:r>
            <a:endParaRPr lang="en-US" sz="1400" dirty="0"/>
          </a:p>
        </p:txBody>
      </p:sp>
      <p:sp>
        <p:nvSpPr>
          <p:cNvPr id="30"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10881360" cy="914400"/>
          </a:xfrm>
          <a:prstGeom prst="rect">
            <a:avLst/>
          </a:prstGeom>
          <a:noFill/>
          <a:ln/>
        </p:spPr>
        <p:txBody>
          <a:bodyPr wrap="square" lIns="0" tIns="0" rIns="0" bIns="0" rtlCol="0" anchor="ctr"/>
          <a:lstStyle/>
          <a:p>
            <a:pPr marL="0" indent="0" algn="l">
              <a:buNone/>
            </a:pPr>
            <a:r>
              <a:rPr lang="en-US" sz="4000" b="1" dirty="0">
                <a:solidFill>
                  <a:schemeClr val="tx1"/>
                </a:solidFill>
              </a:rPr>
              <a:t>Key features</a:t>
            </a:r>
            <a:endParaRPr lang="en-US" sz="4000" dirty="0"/>
          </a:p>
        </p:txBody>
      </p:sp>
      <p:sp>
        <p:nvSpPr>
          <p:cNvPr id="3" name="Feature 1"/>
          <p:cNvSpPr/>
          <p:nvPr/>
        </p:nvSpPr>
        <p:spPr>
          <a:xfrm>
            <a:off x="640080" y="1737360"/>
            <a:ext cx="3520440" cy="1920240"/>
          </a:xfrm>
          <a:prstGeom prst="roundRect">
            <a:avLst>
              <a:gd name="adj" fmla="val 7143"/>
            </a:avLst>
          </a:prstGeom>
          <a:solidFill>
            <a:schemeClr val="bg1"/>
          </a:solidFill>
          <a:ln w="9525">
            <a:solidFill>
              <a:srgbClr val="E1E4F7"/>
            </a:solidFill>
            <a:prstDash val="solid"/>
          </a:ln>
          <a:effectLst>
            <a:outerShdw blurRad="101600" dist="25400" dir="5400000" algn="bl" rotWithShape="0">
              <a:srgbClr val="5B63C4">
                <a:alpha val="12000"/>
              </a:srgbClr>
            </a:outerShdw>
          </a:effectLst>
        </p:spPr>
      </p:sp>
      <p:sp>
        <p:nvSpPr>
          <p:cNvPr id="4" name="Feature 1 badge"/>
          <p:cNvSpPr/>
          <p:nvPr/>
        </p:nvSpPr>
        <p:spPr>
          <a:xfrm>
            <a:off x="914400" y="1993392"/>
            <a:ext cx="548640" cy="548640"/>
          </a:xfrm>
          <a:prstGeom prst="ellipse">
            <a:avLst/>
          </a:prstGeom>
          <a:solidFill>
            <a:schemeClr val="accent2"/>
          </a:solidFill>
          <a:ln w="12700">
            <a:solidFill>
              <a:schemeClr val="accent2"/>
            </a:solidFill>
            <a:prstDash val="solid"/>
          </a:ln>
        </p:spPr>
      </p:sp>
      <p:sp>
        <p:nvSpPr>
          <p:cNvPr id="5" name="Feature 1 number"/>
          <p:cNvSpPr txBox="1"/>
          <p:nvPr/>
        </p:nvSpPr>
        <p:spPr>
          <a:xfrm>
            <a:off x="914400" y="1993392"/>
            <a:ext cx="548640" cy="548640"/>
          </a:xfrm>
          <a:prstGeom prst="rect">
            <a:avLst/>
          </a:prstGeom>
          <a:noFill/>
          <a:ln/>
        </p:spPr>
        <p:txBody>
          <a:bodyPr wrap="square" lIns="0" tIns="0" rIns="0" bIns="0" rtlCol="0" anchor="ctr"/>
          <a:lstStyle/>
          <a:p>
            <a:pPr marL="0" indent="0" algn="ctr">
              <a:buNone/>
            </a:pPr>
            <a:r>
              <a:rPr lang="en-US" sz="1800" b="1" dirty="0">
                <a:solidFill>
                  <a:schemeClr val="tx1"/>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645920" y="1993392"/>
            <a:ext cx="2331720" cy="548640"/>
          </a:xfrm>
          <a:prstGeom prst="rect">
            <a:avLst/>
          </a:prstGeom>
          <a:noFill/>
          <a:ln/>
        </p:spPr>
        <p:txBody>
          <a:bodyPr wrap="square" lIns="0" tIns="0" rIns="0" bIns="0" rtlCol="0" anchor="ctr"/>
          <a:lstStyle/>
          <a:p>
            <a:pPr marL="0" indent="0">
              <a:buNone/>
            </a:pPr>
            <a:r>
              <a:rPr lang="en-US" sz="2100" b="1" dirty="0">
                <a:solidFill>
                  <a:schemeClr val="accent1"/>
                </a:solidFill>
                <a:latin typeface="Cambria" pitchFamily="34" charset="0"/>
                <a:ea typeface="Cambria" pitchFamily="34" charset="-122"/>
                <a:cs typeface="Cambria" pitchFamily="34" charset="-120"/>
              </a:rPr>
              <a:t>Recognise</a:t>
            </a:r>
            <a:endParaRPr lang="en-US" sz="2100" dirty="0"/>
          </a:p>
        </p:txBody>
      </p:sp>
      <p:sp>
        <p:nvSpPr>
          <p:cNvPr id="7" name="Text 5"/>
          <p:cNvSpPr txBox="1"/>
          <p:nvPr/>
        </p:nvSpPr>
        <p:spPr>
          <a:xfrm>
            <a:off x="914400" y="2697480"/>
            <a:ext cx="2971800" cy="868680"/>
          </a:xfrm>
          <a:prstGeom prst="rect">
            <a:avLst/>
          </a:prstGeom>
          <a:noFill/>
          <a:ln/>
        </p:spPr>
        <p:txBody>
          <a:bodyPr wrap="square" lIns="0" tIns="0" rIns="0" bIns="0" rtlCol="0" anchor="t"/>
          <a:lstStyle/>
          <a:p>
            <a:pPr marL="0" indent="0">
              <a:buNone/>
            </a:pPr>
            <a:r>
              <a:rPr lang="en-US" sz="1700" dirty="0">
                <a:solidFill>
                  <a:schemeClr val="tx2"/>
                </a:solidFill>
              </a:rPr>
              <a:t>36 Devanagari consonants from live fingerspelling</a:t>
            </a:r>
            <a:endParaRPr lang="en-US" sz="1700" dirty="0"/>
          </a:p>
        </p:txBody>
      </p:sp>
      <p:sp>
        <p:nvSpPr>
          <p:cNvPr id="8" name="Feature 2"/>
          <p:cNvSpPr/>
          <p:nvPr/>
        </p:nvSpPr>
        <p:spPr>
          <a:xfrm>
            <a:off x="4343400" y="1737360"/>
            <a:ext cx="3520440" cy="1920240"/>
          </a:xfrm>
          <a:prstGeom prst="roundRect">
            <a:avLst>
              <a:gd name="adj" fmla="val 7143"/>
            </a:avLst>
          </a:prstGeom>
          <a:solidFill>
            <a:schemeClr val="bg1"/>
          </a:solidFill>
          <a:ln w="9525">
            <a:solidFill>
              <a:srgbClr val="E1E4F7"/>
            </a:solidFill>
            <a:prstDash val="solid"/>
          </a:ln>
          <a:effectLst>
            <a:outerShdw blurRad="101600" dist="25400" dir="5400000" algn="bl" rotWithShape="0">
              <a:srgbClr val="5B63C4">
                <a:alpha val="12000"/>
              </a:srgbClr>
            </a:outerShdw>
          </a:effectLst>
        </p:spPr>
      </p:sp>
      <p:sp>
        <p:nvSpPr>
          <p:cNvPr id="9" name="Feature 2 badge"/>
          <p:cNvSpPr/>
          <p:nvPr/>
        </p:nvSpPr>
        <p:spPr>
          <a:xfrm>
            <a:off x="4617720" y="1993392"/>
            <a:ext cx="548640" cy="548640"/>
          </a:xfrm>
          <a:prstGeom prst="ellipse">
            <a:avLst/>
          </a:prstGeom>
          <a:solidFill>
            <a:schemeClr val="accent3"/>
          </a:solidFill>
          <a:ln w="12700">
            <a:solidFill>
              <a:schemeClr val="accent3"/>
            </a:solidFill>
            <a:prstDash val="solid"/>
          </a:ln>
        </p:spPr>
      </p:sp>
      <p:sp>
        <p:nvSpPr>
          <p:cNvPr id="10" name="Feature 2 number"/>
          <p:cNvSpPr txBox="1"/>
          <p:nvPr/>
        </p:nvSpPr>
        <p:spPr>
          <a:xfrm>
            <a:off x="4617720" y="1993392"/>
            <a:ext cx="548640" cy="548640"/>
          </a:xfrm>
          <a:prstGeom prst="rect">
            <a:avLst/>
          </a:prstGeom>
          <a:noFill/>
          <a:ln/>
        </p:spPr>
        <p:txBody>
          <a:bodyPr wrap="square" lIns="0" tIns="0" rIns="0" bIns="0" rtlCol="0" anchor="ctr"/>
          <a:lstStyle/>
          <a:p>
            <a:pPr marL="0" indent="0" algn="ctr">
              <a:buNone/>
            </a:pPr>
            <a:r>
              <a:rPr lang="en-US" sz="1800" b="1" dirty="0">
                <a:solidFill>
                  <a:schemeClr val="tx1"/>
                </a:solidFill>
                <a:latin typeface="Cambria" pitchFamily="34" charset="0"/>
                <a:ea typeface="Cambria" pitchFamily="34" charset="-122"/>
                <a:cs typeface="Cambria" pitchFamily="34" charset="-120"/>
              </a:rPr>
              <a:t>2</a:t>
            </a:r>
            <a:endParaRPr lang="en-US" sz="1800" dirty="0"/>
          </a:p>
        </p:txBody>
      </p:sp>
      <p:sp>
        <p:nvSpPr>
          <p:cNvPr id="11" name="Text 9"/>
          <p:cNvSpPr txBox="1"/>
          <p:nvPr/>
        </p:nvSpPr>
        <p:spPr>
          <a:xfrm>
            <a:off x="5349240" y="1993392"/>
            <a:ext cx="2331720" cy="548640"/>
          </a:xfrm>
          <a:prstGeom prst="rect">
            <a:avLst/>
          </a:prstGeom>
          <a:noFill/>
          <a:ln/>
        </p:spPr>
        <p:txBody>
          <a:bodyPr wrap="square" lIns="0" tIns="0" rIns="0" bIns="0" rtlCol="0" anchor="ctr"/>
          <a:lstStyle/>
          <a:p>
            <a:pPr marL="0" indent="0">
              <a:buNone/>
            </a:pPr>
            <a:r>
              <a:rPr lang="en-US" sz="2100" b="1" dirty="0">
                <a:solidFill>
                  <a:schemeClr val="accent1"/>
                </a:solidFill>
                <a:latin typeface="Cambria" pitchFamily="34" charset="0"/>
                <a:ea typeface="Cambria" pitchFamily="34" charset="-122"/>
                <a:cs typeface="Cambria" pitchFamily="34" charset="-120"/>
              </a:rPr>
              <a:t>Stabilise</a:t>
            </a:r>
            <a:endParaRPr lang="en-US" sz="2100" dirty="0"/>
          </a:p>
        </p:txBody>
      </p:sp>
      <p:sp>
        <p:nvSpPr>
          <p:cNvPr id="12" name="Text 10"/>
          <p:cNvSpPr txBox="1"/>
          <p:nvPr/>
        </p:nvSpPr>
        <p:spPr>
          <a:xfrm>
            <a:off x="4617720" y="2697480"/>
            <a:ext cx="2971800" cy="868680"/>
          </a:xfrm>
          <a:prstGeom prst="rect">
            <a:avLst/>
          </a:prstGeom>
          <a:noFill/>
          <a:ln/>
        </p:spPr>
        <p:txBody>
          <a:bodyPr wrap="square" lIns="0" tIns="0" rIns="0" bIns="0" rtlCol="0" anchor="t"/>
          <a:lstStyle/>
          <a:p>
            <a:pPr marL="0" indent="0">
              <a:buNone/>
            </a:pPr>
            <a:r>
              <a:rPr lang="en-US" sz="1700" dirty="0">
                <a:solidFill>
                  <a:schemeClr val="tx2"/>
                </a:solidFill>
              </a:rPr>
              <a:t>Only consistent predictions are accepted, so no flicker or repeats</a:t>
            </a:r>
            <a:endParaRPr lang="en-US" sz="1700" dirty="0"/>
          </a:p>
        </p:txBody>
      </p:sp>
      <p:sp>
        <p:nvSpPr>
          <p:cNvPr id="13" name="Feature 3"/>
          <p:cNvSpPr/>
          <p:nvPr/>
        </p:nvSpPr>
        <p:spPr>
          <a:xfrm>
            <a:off x="8046720" y="1737360"/>
            <a:ext cx="3520440" cy="1920240"/>
          </a:xfrm>
          <a:prstGeom prst="roundRect">
            <a:avLst>
              <a:gd name="adj" fmla="val 7143"/>
            </a:avLst>
          </a:prstGeom>
          <a:solidFill>
            <a:schemeClr val="bg1"/>
          </a:solidFill>
          <a:ln w="9525">
            <a:solidFill>
              <a:srgbClr val="E1E4F7"/>
            </a:solidFill>
            <a:prstDash val="solid"/>
          </a:ln>
          <a:effectLst>
            <a:outerShdw blurRad="101600" dist="25400" dir="5400000" algn="bl" rotWithShape="0">
              <a:srgbClr val="5B63C4">
                <a:alpha val="12000"/>
              </a:srgbClr>
            </a:outerShdw>
          </a:effectLst>
        </p:spPr>
      </p:sp>
      <p:sp>
        <p:nvSpPr>
          <p:cNvPr id="14" name="Feature 3 badge"/>
          <p:cNvSpPr/>
          <p:nvPr/>
        </p:nvSpPr>
        <p:spPr>
          <a:xfrm>
            <a:off x="8321040" y="1993392"/>
            <a:ext cx="548640" cy="548640"/>
          </a:xfrm>
          <a:prstGeom prst="ellipse">
            <a:avLst/>
          </a:prstGeom>
          <a:solidFill>
            <a:schemeClr val="accent4"/>
          </a:solidFill>
          <a:ln w="12700">
            <a:solidFill>
              <a:schemeClr val="accent4"/>
            </a:solidFill>
            <a:prstDash val="solid"/>
          </a:ln>
        </p:spPr>
      </p:sp>
      <p:sp>
        <p:nvSpPr>
          <p:cNvPr id="15" name="Feature 3 number"/>
          <p:cNvSpPr txBox="1"/>
          <p:nvPr/>
        </p:nvSpPr>
        <p:spPr>
          <a:xfrm>
            <a:off x="8321040" y="1993392"/>
            <a:ext cx="548640" cy="548640"/>
          </a:xfrm>
          <a:prstGeom prst="rect">
            <a:avLst/>
          </a:prstGeom>
          <a:noFill/>
          <a:ln/>
        </p:spPr>
        <p:txBody>
          <a:bodyPr wrap="square" lIns="0" tIns="0" rIns="0" bIns="0" rtlCol="0" anchor="ctr"/>
          <a:lstStyle/>
          <a:p>
            <a:pPr marL="0" indent="0" algn="ctr">
              <a:buNone/>
            </a:pPr>
            <a:r>
              <a:rPr lang="en-US" sz="1800" b="1" dirty="0">
                <a:solidFill>
                  <a:schemeClr val="tx1"/>
                </a:solidFill>
                <a:latin typeface="Cambria" pitchFamily="34" charset="0"/>
                <a:ea typeface="Cambria" pitchFamily="34" charset="-122"/>
                <a:cs typeface="Cambria" pitchFamily="34" charset="-120"/>
              </a:rPr>
              <a:t>3</a:t>
            </a:r>
            <a:endParaRPr lang="en-US" sz="1800" dirty="0"/>
          </a:p>
        </p:txBody>
      </p:sp>
      <p:sp>
        <p:nvSpPr>
          <p:cNvPr id="16" name="Text 14"/>
          <p:cNvSpPr txBox="1"/>
          <p:nvPr/>
        </p:nvSpPr>
        <p:spPr>
          <a:xfrm>
            <a:off x="9052560" y="1993392"/>
            <a:ext cx="2331720" cy="548640"/>
          </a:xfrm>
          <a:prstGeom prst="rect">
            <a:avLst/>
          </a:prstGeom>
          <a:noFill/>
          <a:ln/>
        </p:spPr>
        <p:txBody>
          <a:bodyPr wrap="square" lIns="0" tIns="0" rIns="0" bIns="0" rtlCol="0" anchor="ctr"/>
          <a:lstStyle/>
          <a:p>
            <a:pPr marL="0" indent="0">
              <a:buNone/>
            </a:pPr>
            <a:r>
              <a:rPr lang="en-US" sz="2100" b="1" dirty="0">
                <a:solidFill>
                  <a:schemeClr val="accent1"/>
                </a:solidFill>
                <a:latin typeface="Cambria" pitchFamily="34" charset="0"/>
                <a:ea typeface="Cambria" pitchFamily="34" charset="-122"/>
                <a:cs typeface="Cambria" pitchFamily="34" charset="-120"/>
              </a:rPr>
              <a:t>Compose</a:t>
            </a:r>
            <a:endParaRPr lang="en-US" sz="2100" dirty="0"/>
          </a:p>
        </p:txBody>
      </p:sp>
      <p:sp>
        <p:nvSpPr>
          <p:cNvPr id="17" name="Text 15"/>
          <p:cNvSpPr txBox="1"/>
          <p:nvPr/>
        </p:nvSpPr>
        <p:spPr>
          <a:xfrm>
            <a:off x="8321040" y="2697480"/>
            <a:ext cx="2971800" cy="868680"/>
          </a:xfrm>
          <a:prstGeom prst="rect">
            <a:avLst/>
          </a:prstGeom>
          <a:noFill/>
          <a:ln/>
        </p:spPr>
        <p:txBody>
          <a:bodyPr wrap="square" lIns="0" tIns="0" rIns="0" bIns="0" rtlCol="0" anchor="t"/>
          <a:lstStyle/>
          <a:p>
            <a:pPr marL="0" indent="0">
              <a:buNone/>
            </a:pPr>
            <a:r>
              <a:rPr lang="en-US" sz="1700" dirty="0">
                <a:solidFill>
                  <a:schemeClr val="tx2"/>
                </a:solidFill>
              </a:rPr>
              <a:t>Characters become words and sentences using signing pauses</a:t>
            </a:r>
            <a:endParaRPr lang="en-US" sz="1700" dirty="0"/>
          </a:p>
        </p:txBody>
      </p:sp>
      <p:sp>
        <p:nvSpPr>
          <p:cNvPr id="18" name="Feature 4"/>
          <p:cNvSpPr/>
          <p:nvPr/>
        </p:nvSpPr>
        <p:spPr>
          <a:xfrm>
            <a:off x="640080" y="3931920"/>
            <a:ext cx="3520440" cy="1920240"/>
          </a:xfrm>
          <a:prstGeom prst="roundRect">
            <a:avLst>
              <a:gd name="adj" fmla="val 7143"/>
            </a:avLst>
          </a:prstGeom>
          <a:solidFill>
            <a:schemeClr val="bg1"/>
          </a:solidFill>
          <a:ln w="9525">
            <a:solidFill>
              <a:srgbClr val="E1E4F7"/>
            </a:solidFill>
            <a:prstDash val="solid"/>
          </a:ln>
          <a:effectLst>
            <a:outerShdw blurRad="101600" dist="25400" dir="5400000" algn="bl" rotWithShape="0">
              <a:srgbClr val="5B63C4">
                <a:alpha val="12000"/>
              </a:srgbClr>
            </a:outerShdw>
          </a:effectLst>
        </p:spPr>
      </p:sp>
      <p:sp>
        <p:nvSpPr>
          <p:cNvPr id="19" name="Feature 4 badge"/>
          <p:cNvSpPr/>
          <p:nvPr/>
        </p:nvSpPr>
        <p:spPr>
          <a:xfrm>
            <a:off x="914400" y="4187952"/>
            <a:ext cx="548640" cy="548640"/>
          </a:xfrm>
          <a:prstGeom prst="ellipse">
            <a:avLst/>
          </a:prstGeom>
          <a:solidFill>
            <a:schemeClr val="accent2"/>
          </a:solidFill>
          <a:ln w="12700">
            <a:solidFill>
              <a:schemeClr val="accent2"/>
            </a:solidFill>
            <a:prstDash val="solid"/>
          </a:ln>
        </p:spPr>
      </p:sp>
      <p:sp>
        <p:nvSpPr>
          <p:cNvPr id="20" name="Feature 4 number"/>
          <p:cNvSpPr txBox="1"/>
          <p:nvPr/>
        </p:nvSpPr>
        <p:spPr>
          <a:xfrm>
            <a:off x="914400" y="4187952"/>
            <a:ext cx="548640" cy="548640"/>
          </a:xfrm>
          <a:prstGeom prst="rect">
            <a:avLst/>
          </a:prstGeom>
          <a:noFill/>
          <a:ln/>
        </p:spPr>
        <p:txBody>
          <a:bodyPr wrap="square" lIns="0" tIns="0" rIns="0" bIns="0" rtlCol="0" anchor="ctr"/>
          <a:lstStyle/>
          <a:p>
            <a:pPr marL="0" indent="0" algn="ctr">
              <a:buNone/>
            </a:pPr>
            <a:r>
              <a:rPr lang="en-US" sz="1800" b="1" dirty="0">
                <a:solidFill>
                  <a:schemeClr val="tx1"/>
                </a:solidFill>
                <a:latin typeface="Cambria" pitchFamily="34" charset="0"/>
                <a:ea typeface="Cambria" pitchFamily="34" charset="-122"/>
                <a:cs typeface="Cambria" pitchFamily="34" charset="-120"/>
              </a:rPr>
              <a:t>4</a:t>
            </a:r>
            <a:endParaRPr lang="en-US" sz="1800" dirty="0"/>
          </a:p>
        </p:txBody>
      </p:sp>
      <p:sp>
        <p:nvSpPr>
          <p:cNvPr id="21" name="Text 19"/>
          <p:cNvSpPr txBox="1"/>
          <p:nvPr/>
        </p:nvSpPr>
        <p:spPr>
          <a:xfrm>
            <a:off x="1645920" y="4187952"/>
            <a:ext cx="2331720" cy="548640"/>
          </a:xfrm>
          <a:prstGeom prst="rect">
            <a:avLst/>
          </a:prstGeom>
          <a:noFill/>
          <a:ln/>
        </p:spPr>
        <p:txBody>
          <a:bodyPr wrap="square" lIns="0" tIns="0" rIns="0" bIns="0" rtlCol="0" anchor="ctr"/>
          <a:lstStyle/>
          <a:p>
            <a:pPr marL="0" indent="0">
              <a:buNone/>
            </a:pPr>
            <a:r>
              <a:rPr lang="en-US" sz="2100" b="1" dirty="0">
                <a:solidFill>
                  <a:schemeClr val="accent1"/>
                </a:solidFill>
                <a:latin typeface="Cambria" pitchFamily="34" charset="0"/>
                <a:ea typeface="Cambria" pitchFamily="34" charset="-122"/>
                <a:cs typeface="Cambria" pitchFamily="34" charset="-120"/>
              </a:rPr>
              <a:t>Speak</a:t>
            </a:r>
            <a:endParaRPr lang="en-US" sz="2100" dirty="0"/>
          </a:p>
        </p:txBody>
      </p:sp>
      <p:sp>
        <p:nvSpPr>
          <p:cNvPr id="22" name="Text 20"/>
          <p:cNvSpPr txBox="1"/>
          <p:nvPr/>
        </p:nvSpPr>
        <p:spPr>
          <a:xfrm>
            <a:off x="914400" y="4892040"/>
            <a:ext cx="2971800" cy="868680"/>
          </a:xfrm>
          <a:prstGeom prst="rect">
            <a:avLst/>
          </a:prstGeom>
          <a:noFill/>
          <a:ln/>
        </p:spPr>
        <p:txBody>
          <a:bodyPr wrap="square" lIns="0" tIns="0" rIns="0" bIns="0" rtlCol="0" anchor="t"/>
          <a:lstStyle/>
          <a:p>
            <a:pPr marL="0" indent="0">
              <a:buNone/>
            </a:pPr>
            <a:r>
              <a:rPr lang="en-US" sz="1700" dirty="0">
                <a:solidFill>
                  <a:schemeClr val="tx2"/>
                </a:solidFill>
              </a:rPr>
              <a:t>Recognised Nepali text played aloud on request</a:t>
            </a:r>
            <a:endParaRPr lang="en-US" sz="1700" dirty="0"/>
          </a:p>
        </p:txBody>
      </p:sp>
      <p:sp>
        <p:nvSpPr>
          <p:cNvPr id="23" name="Feature 5"/>
          <p:cNvSpPr/>
          <p:nvPr/>
        </p:nvSpPr>
        <p:spPr>
          <a:xfrm>
            <a:off x="4343400" y="3931920"/>
            <a:ext cx="3520440" cy="1920240"/>
          </a:xfrm>
          <a:prstGeom prst="roundRect">
            <a:avLst>
              <a:gd name="adj" fmla="val 7143"/>
            </a:avLst>
          </a:prstGeom>
          <a:solidFill>
            <a:schemeClr val="bg1"/>
          </a:solidFill>
          <a:ln w="9525">
            <a:solidFill>
              <a:srgbClr val="E1E4F7"/>
            </a:solidFill>
            <a:prstDash val="solid"/>
          </a:ln>
          <a:effectLst>
            <a:outerShdw blurRad="101600" dist="25400" dir="5400000" algn="bl" rotWithShape="0">
              <a:srgbClr val="5B63C4">
                <a:alpha val="12000"/>
              </a:srgbClr>
            </a:outerShdw>
          </a:effectLst>
        </p:spPr>
      </p:sp>
      <p:sp>
        <p:nvSpPr>
          <p:cNvPr id="24" name="Feature 5 badge"/>
          <p:cNvSpPr/>
          <p:nvPr/>
        </p:nvSpPr>
        <p:spPr>
          <a:xfrm>
            <a:off x="4617720" y="4187952"/>
            <a:ext cx="548640" cy="548640"/>
          </a:xfrm>
          <a:prstGeom prst="ellipse">
            <a:avLst/>
          </a:prstGeom>
          <a:solidFill>
            <a:schemeClr val="accent3"/>
          </a:solidFill>
          <a:ln w="12700">
            <a:solidFill>
              <a:schemeClr val="accent3"/>
            </a:solidFill>
            <a:prstDash val="solid"/>
          </a:ln>
        </p:spPr>
      </p:sp>
      <p:sp>
        <p:nvSpPr>
          <p:cNvPr id="25" name="Feature 5 number"/>
          <p:cNvSpPr txBox="1"/>
          <p:nvPr/>
        </p:nvSpPr>
        <p:spPr>
          <a:xfrm>
            <a:off x="4617720" y="4187952"/>
            <a:ext cx="548640" cy="548640"/>
          </a:xfrm>
          <a:prstGeom prst="rect">
            <a:avLst/>
          </a:prstGeom>
          <a:noFill/>
          <a:ln/>
        </p:spPr>
        <p:txBody>
          <a:bodyPr wrap="square" lIns="0" tIns="0" rIns="0" bIns="0" rtlCol="0" anchor="ctr"/>
          <a:lstStyle/>
          <a:p>
            <a:pPr marL="0" indent="0" algn="ctr">
              <a:buNone/>
            </a:pPr>
            <a:r>
              <a:rPr lang="en-US" sz="1800" b="1" dirty="0">
                <a:solidFill>
                  <a:schemeClr val="tx1"/>
                </a:solidFill>
                <a:latin typeface="Cambria" pitchFamily="34" charset="0"/>
                <a:ea typeface="Cambria" pitchFamily="34" charset="-122"/>
                <a:cs typeface="Cambria" pitchFamily="34" charset="-120"/>
              </a:rPr>
              <a:t>5</a:t>
            </a:r>
            <a:endParaRPr lang="en-US" sz="1800" dirty="0"/>
          </a:p>
        </p:txBody>
      </p:sp>
      <p:sp>
        <p:nvSpPr>
          <p:cNvPr id="26" name="Text 24"/>
          <p:cNvSpPr txBox="1"/>
          <p:nvPr/>
        </p:nvSpPr>
        <p:spPr>
          <a:xfrm>
            <a:off x="5349240" y="4187952"/>
            <a:ext cx="2331720" cy="548640"/>
          </a:xfrm>
          <a:prstGeom prst="rect">
            <a:avLst/>
          </a:prstGeom>
          <a:noFill/>
          <a:ln/>
        </p:spPr>
        <p:txBody>
          <a:bodyPr wrap="square" lIns="0" tIns="0" rIns="0" bIns="0" rtlCol="0" anchor="ctr"/>
          <a:lstStyle/>
          <a:p>
            <a:pPr marL="0" indent="0">
              <a:buNone/>
            </a:pPr>
            <a:r>
              <a:rPr lang="en-US" sz="2100" b="1" dirty="0">
                <a:solidFill>
                  <a:schemeClr val="accent1"/>
                </a:solidFill>
                <a:latin typeface="Cambria" pitchFamily="34" charset="0"/>
                <a:ea typeface="Cambria" pitchFamily="34" charset="-122"/>
                <a:cs typeface="Cambria" pitchFamily="34" charset="-120"/>
              </a:rPr>
              <a:t>Offline and private</a:t>
            </a:r>
            <a:endParaRPr lang="en-US" sz="2100" dirty="0"/>
          </a:p>
        </p:txBody>
      </p:sp>
      <p:sp>
        <p:nvSpPr>
          <p:cNvPr id="27" name="Text 25"/>
          <p:cNvSpPr txBox="1"/>
          <p:nvPr/>
        </p:nvSpPr>
        <p:spPr>
          <a:xfrm>
            <a:off x="4617720" y="4892040"/>
            <a:ext cx="2971800" cy="868680"/>
          </a:xfrm>
          <a:prstGeom prst="rect">
            <a:avLst/>
          </a:prstGeom>
          <a:noFill/>
          <a:ln/>
        </p:spPr>
        <p:txBody>
          <a:bodyPr wrap="square" lIns="0" tIns="0" rIns="0" bIns="0" rtlCol="0" anchor="t"/>
          <a:lstStyle/>
          <a:p>
            <a:pPr marL="0" indent="0">
              <a:buNone/>
            </a:pPr>
            <a:r>
              <a:rPr lang="en-US" sz="1700" dirty="0">
                <a:solidFill>
                  <a:schemeClr val="tx2"/>
                </a:solidFill>
              </a:rPr>
              <a:t>Inference on-device; camera data never leaves the phone</a:t>
            </a:r>
            <a:endParaRPr lang="en-US" sz="1700" dirty="0"/>
          </a:p>
        </p:txBody>
      </p:sp>
      <p:sp>
        <p:nvSpPr>
          <p:cNvPr id="28" name="Feature 6"/>
          <p:cNvSpPr/>
          <p:nvPr/>
        </p:nvSpPr>
        <p:spPr>
          <a:xfrm>
            <a:off x="8046720" y="3931920"/>
            <a:ext cx="3520440" cy="1920240"/>
          </a:xfrm>
          <a:prstGeom prst="roundRect">
            <a:avLst>
              <a:gd name="adj" fmla="val 7143"/>
            </a:avLst>
          </a:prstGeom>
          <a:solidFill>
            <a:schemeClr val="bg1"/>
          </a:solidFill>
          <a:ln w="9525">
            <a:solidFill>
              <a:srgbClr val="E1E4F7"/>
            </a:solidFill>
            <a:prstDash val="solid"/>
          </a:ln>
          <a:effectLst>
            <a:outerShdw blurRad="101600" dist="25400" dir="5400000" algn="bl" rotWithShape="0">
              <a:srgbClr val="5B63C4">
                <a:alpha val="12000"/>
              </a:srgbClr>
            </a:outerShdw>
          </a:effectLst>
        </p:spPr>
      </p:sp>
      <p:sp>
        <p:nvSpPr>
          <p:cNvPr id="29" name="Feature 6 badge"/>
          <p:cNvSpPr/>
          <p:nvPr/>
        </p:nvSpPr>
        <p:spPr>
          <a:xfrm>
            <a:off x="8321040" y="4187952"/>
            <a:ext cx="548640" cy="548640"/>
          </a:xfrm>
          <a:prstGeom prst="ellipse">
            <a:avLst/>
          </a:prstGeom>
          <a:solidFill>
            <a:schemeClr val="accent4"/>
          </a:solidFill>
          <a:ln w="12700">
            <a:solidFill>
              <a:schemeClr val="accent4"/>
            </a:solidFill>
            <a:prstDash val="solid"/>
          </a:ln>
        </p:spPr>
      </p:sp>
      <p:sp>
        <p:nvSpPr>
          <p:cNvPr id="30" name="Feature 6 number"/>
          <p:cNvSpPr txBox="1"/>
          <p:nvPr/>
        </p:nvSpPr>
        <p:spPr>
          <a:xfrm>
            <a:off x="8321040" y="4187952"/>
            <a:ext cx="548640" cy="548640"/>
          </a:xfrm>
          <a:prstGeom prst="rect">
            <a:avLst/>
          </a:prstGeom>
          <a:noFill/>
          <a:ln/>
        </p:spPr>
        <p:txBody>
          <a:bodyPr wrap="square" lIns="0" tIns="0" rIns="0" bIns="0" rtlCol="0" anchor="ctr"/>
          <a:lstStyle/>
          <a:p>
            <a:pPr marL="0" indent="0" algn="ctr">
              <a:buNone/>
            </a:pPr>
            <a:r>
              <a:rPr lang="en-US" sz="1800" b="1" dirty="0">
                <a:solidFill>
                  <a:schemeClr val="tx1"/>
                </a:solidFill>
                <a:latin typeface="Cambria" pitchFamily="34" charset="0"/>
                <a:ea typeface="Cambria" pitchFamily="34" charset="-122"/>
                <a:cs typeface="Cambria" pitchFamily="34" charset="-120"/>
              </a:rPr>
              <a:t>6</a:t>
            </a:r>
            <a:endParaRPr lang="en-US" sz="1800" dirty="0"/>
          </a:p>
        </p:txBody>
      </p:sp>
      <p:sp>
        <p:nvSpPr>
          <p:cNvPr id="31" name="Text 29"/>
          <p:cNvSpPr txBox="1"/>
          <p:nvPr/>
        </p:nvSpPr>
        <p:spPr>
          <a:xfrm>
            <a:off x="9052560" y="4187952"/>
            <a:ext cx="2331720" cy="548640"/>
          </a:xfrm>
          <a:prstGeom prst="rect">
            <a:avLst/>
          </a:prstGeom>
          <a:noFill/>
          <a:ln/>
        </p:spPr>
        <p:txBody>
          <a:bodyPr wrap="square" lIns="0" tIns="0" rIns="0" bIns="0" rtlCol="0" anchor="ctr"/>
          <a:lstStyle/>
          <a:p>
            <a:pPr marL="0" indent="0">
              <a:buNone/>
            </a:pPr>
            <a:r>
              <a:rPr lang="en-US" sz="2100" b="1" dirty="0">
                <a:solidFill>
                  <a:schemeClr val="accent1"/>
                </a:solidFill>
                <a:latin typeface="Cambria" pitchFamily="34" charset="0"/>
                <a:ea typeface="Cambria" pitchFamily="34" charset="-122"/>
                <a:cs typeface="Cambria" pitchFamily="34" charset="-120"/>
              </a:rPr>
              <a:t>Data collector</a:t>
            </a:r>
            <a:endParaRPr lang="en-US" sz="2100" dirty="0"/>
          </a:p>
        </p:txBody>
      </p:sp>
      <p:sp>
        <p:nvSpPr>
          <p:cNvPr id="32" name="Text 30"/>
          <p:cNvSpPr txBox="1"/>
          <p:nvPr/>
        </p:nvSpPr>
        <p:spPr>
          <a:xfrm>
            <a:off x="8321040" y="4892040"/>
            <a:ext cx="2971800" cy="868680"/>
          </a:xfrm>
          <a:prstGeom prst="rect">
            <a:avLst/>
          </a:prstGeom>
          <a:noFill/>
          <a:ln/>
        </p:spPr>
        <p:txBody>
          <a:bodyPr wrap="square" lIns="0" tIns="0" rIns="0" bIns="0" rtlCol="0" anchor="t"/>
          <a:lstStyle/>
          <a:p>
            <a:pPr marL="0" indent="0">
              <a:buNone/>
            </a:pPr>
            <a:r>
              <a:rPr lang="en-US" sz="1700" dirty="0">
                <a:solidFill>
                  <a:schemeClr val="tx2"/>
                </a:solidFill>
              </a:rPr>
              <a:t>Companion app to capture, crop, label and export the dataset</a:t>
            </a:r>
            <a:endParaRPr lang="en-US" sz="1700" dirty="0"/>
          </a:p>
        </p:txBody>
      </p:sp>
      <p:sp>
        <p:nvSpPr>
          <p:cNvPr id="33"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10881360" cy="914400"/>
          </a:xfrm>
          <a:prstGeom prst="rect">
            <a:avLst/>
          </a:prstGeom>
          <a:noFill/>
          <a:ln/>
        </p:spPr>
        <p:txBody>
          <a:bodyPr wrap="square" lIns="0" tIns="0" rIns="0" bIns="0" rtlCol="0" anchor="ctr"/>
          <a:lstStyle/>
          <a:p>
            <a:pPr marL="0" indent="0" algn="l">
              <a:buNone/>
            </a:pPr>
            <a:r>
              <a:rPr lang="en-US" sz="4000" b="1" dirty="0">
                <a:solidFill>
                  <a:schemeClr val="tx1"/>
                </a:solidFill>
              </a:rPr>
              <a:t>Dataset and features</a:t>
            </a:r>
            <a:endParaRPr lang="en-US" sz="4000" dirty="0"/>
          </a:p>
        </p:txBody>
      </p:sp>
      <p:sp>
        <p:nvSpPr>
          <p:cNvPr id="3" name="Stat 1"/>
          <p:cNvSpPr/>
          <p:nvPr/>
        </p:nvSpPr>
        <p:spPr>
          <a:xfrm>
            <a:off x="640080" y="1737360"/>
            <a:ext cx="3520440" cy="2103120"/>
          </a:xfrm>
          <a:prstGeom prst="roundRect">
            <a:avLst>
              <a:gd name="adj" fmla="val 6522"/>
            </a:avLst>
          </a:prstGeom>
          <a:solidFill>
            <a:schemeClr val="bg1"/>
          </a:solidFill>
          <a:ln w="9525">
            <a:solidFill>
              <a:srgbClr val="E1E4F7"/>
            </a:solidFill>
            <a:prstDash val="solid"/>
          </a:ln>
          <a:effectLst>
            <a:outerShdw blurRad="101600" dist="25400" dir="5400000" algn="bl" rotWithShape="0">
              <a:srgbClr val="5B63C4">
                <a:alpha val="12000"/>
              </a:srgbClr>
            </a:outerShdw>
          </a:effectLst>
        </p:spPr>
      </p:sp>
      <p:sp>
        <p:nvSpPr>
          <p:cNvPr id="4" name="Text 2"/>
          <p:cNvSpPr txBox="1"/>
          <p:nvPr/>
        </p:nvSpPr>
        <p:spPr>
          <a:xfrm>
            <a:off x="914400" y="1874520"/>
            <a:ext cx="2971800" cy="1005840"/>
          </a:xfrm>
          <a:prstGeom prst="rect">
            <a:avLst/>
          </a:prstGeom>
          <a:noFill/>
          <a:ln/>
        </p:spPr>
        <p:txBody>
          <a:bodyPr wrap="square" lIns="0" tIns="0" rIns="0" bIns="0" rtlCol="0" anchor="ctr"/>
          <a:lstStyle/>
          <a:p>
            <a:pPr marL="0" indent="0">
              <a:buNone/>
            </a:pPr>
            <a:r>
              <a:rPr lang="en-US" sz="6000" b="1" dirty="0" smtClean="0">
                <a:solidFill>
                  <a:schemeClr val="accent1"/>
                </a:solidFill>
              </a:rPr>
              <a:t>17</a:t>
            </a:r>
            <a:endParaRPr lang="en-US" sz="6000" b="1" dirty="0">
              <a:solidFill>
                <a:schemeClr val="accent1"/>
              </a:solidFill>
            </a:endParaRPr>
          </a:p>
        </p:txBody>
      </p:sp>
      <p:sp>
        <p:nvSpPr>
          <p:cNvPr id="5" name="Text 3"/>
          <p:cNvSpPr txBox="1"/>
          <p:nvPr/>
        </p:nvSpPr>
        <p:spPr>
          <a:xfrm>
            <a:off x="914400" y="2880360"/>
            <a:ext cx="2971800" cy="822960"/>
          </a:xfrm>
          <a:prstGeom prst="rect">
            <a:avLst/>
          </a:prstGeom>
          <a:noFill/>
          <a:ln/>
        </p:spPr>
        <p:txBody>
          <a:bodyPr wrap="square" lIns="0" tIns="0" rIns="0" bIns="0" rtlCol="0" anchor="t"/>
          <a:lstStyle/>
          <a:p>
            <a:pPr marL="0" indent="0">
              <a:buNone/>
            </a:pPr>
            <a:r>
              <a:rPr lang="en-US" sz="1800" dirty="0">
                <a:solidFill>
                  <a:schemeClr val="tx1"/>
                </a:solidFill>
              </a:rPr>
              <a:t>images collected with a purpose-built capture app</a:t>
            </a:r>
            <a:endParaRPr lang="en-US" sz="1800" dirty="0"/>
          </a:p>
        </p:txBody>
      </p:sp>
      <p:sp>
        <p:nvSpPr>
          <p:cNvPr id="6" name="Stat 2"/>
          <p:cNvSpPr/>
          <p:nvPr/>
        </p:nvSpPr>
        <p:spPr>
          <a:xfrm>
            <a:off x="4343400" y="1737360"/>
            <a:ext cx="3520440" cy="2103120"/>
          </a:xfrm>
          <a:prstGeom prst="roundRect">
            <a:avLst>
              <a:gd name="adj" fmla="val 6522"/>
            </a:avLst>
          </a:prstGeom>
          <a:solidFill>
            <a:schemeClr val="bg1"/>
          </a:solidFill>
          <a:ln w="9525">
            <a:solidFill>
              <a:srgbClr val="E1E4F7"/>
            </a:solidFill>
            <a:prstDash val="solid"/>
          </a:ln>
          <a:effectLst>
            <a:outerShdw blurRad="101600" dist="25400" dir="5400000" algn="bl" rotWithShape="0">
              <a:srgbClr val="5B63C4">
                <a:alpha val="12000"/>
              </a:srgbClr>
            </a:outerShdw>
          </a:effectLst>
        </p:spPr>
      </p:sp>
      <p:sp>
        <p:nvSpPr>
          <p:cNvPr id="7" name="Text 5"/>
          <p:cNvSpPr txBox="1"/>
          <p:nvPr/>
        </p:nvSpPr>
        <p:spPr>
          <a:xfrm>
            <a:off x="4617720" y="1828800"/>
            <a:ext cx="2971800" cy="1005840"/>
          </a:xfrm>
          <a:prstGeom prst="rect">
            <a:avLst/>
          </a:prstGeom>
          <a:noFill/>
          <a:ln/>
        </p:spPr>
        <p:txBody>
          <a:bodyPr wrap="square" lIns="0" tIns="0" rIns="0" bIns="0" rtlCol="0" anchor="ctr"/>
          <a:lstStyle/>
          <a:p>
            <a:pPr marL="0" indent="0">
              <a:buNone/>
            </a:pPr>
            <a:r>
              <a:rPr lang="en-US" sz="6000" b="1" dirty="0">
                <a:solidFill>
                  <a:schemeClr val="accent1"/>
                </a:solidFill>
                <a:latin typeface="Cambria" pitchFamily="34" charset="0"/>
                <a:ea typeface="Cambria" pitchFamily="34" charset="-122"/>
                <a:cs typeface="Cambria" pitchFamily="34" charset="-120"/>
              </a:rPr>
              <a:t>36</a:t>
            </a:r>
            <a:endParaRPr lang="en-US" sz="6000" dirty="0"/>
          </a:p>
        </p:txBody>
      </p:sp>
      <p:sp>
        <p:nvSpPr>
          <p:cNvPr id="8" name="Text 6"/>
          <p:cNvSpPr txBox="1"/>
          <p:nvPr/>
        </p:nvSpPr>
        <p:spPr>
          <a:xfrm>
            <a:off x="4617720" y="2880360"/>
            <a:ext cx="2971800" cy="822960"/>
          </a:xfrm>
          <a:prstGeom prst="rect">
            <a:avLst/>
          </a:prstGeom>
          <a:noFill/>
          <a:ln/>
        </p:spPr>
        <p:txBody>
          <a:bodyPr wrap="square" lIns="0" tIns="0" rIns="0" bIns="0" rtlCol="0" anchor="t"/>
          <a:lstStyle/>
          <a:p>
            <a:pPr marL="0" indent="0">
              <a:buNone/>
            </a:pPr>
            <a:r>
              <a:rPr lang="en-US" sz="1800" dirty="0">
                <a:solidFill>
                  <a:schemeClr val="tx1"/>
                </a:solidFill>
              </a:rPr>
              <a:t>Devanagari consonant classes</a:t>
            </a:r>
            <a:endParaRPr lang="en-US" sz="1800" dirty="0"/>
          </a:p>
        </p:txBody>
      </p:sp>
      <p:sp>
        <p:nvSpPr>
          <p:cNvPr id="9" name="Stat 3"/>
          <p:cNvSpPr/>
          <p:nvPr/>
        </p:nvSpPr>
        <p:spPr>
          <a:xfrm>
            <a:off x="8046720" y="1737360"/>
            <a:ext cx="3520440" cy="2103120"/>
          </a:xfrm>
          <a:prstGeom prst="roundRect">
            <a:avLst>
              <a:gd name="adj" fmla="val 6522"/>
            </a:avLst>
          </a:prstGeom>
          <a:solidFill>
            <a:schemeClr val="bg1"/>
          </a:solidFill>
          <a:ln w="9525">
            <a:solidFill>
              <a:srgbClr val="E1E4F7"/>
            </a:solidFill>
            <a:prstDash val="solid"/>
          </a:ln>
          <a:effectLst>
            <a:outerShdw blurRad="101600" dist="25400" dir="5400000" algn="bl" rotWithShape="0">
              <a:srgbClr val="5B63C4">
                <a:alpha val="12000"/>
              </a:srgbClr>
            </a:outerShdw>
          </a:effectLst>
        </p:spPr>
      </p:sp>
      <p:sp>
        <p:nvSpPr>
          <p:cNvPr id="10" name="Text 8"/>
          <p:cNvSpPr txBox="1"/>
          <p:nvPr/>
        </p:nvSpPr>
        <p:spPr>
          <a:xfrm>
            <a:off x="8321040" y="1828800"/>
            <a:ext cx="2971800" cy="1005840"/>
          </a:xfrm>
          <a:prstGeom prst="rect">
            <a:avLst/>
          </a:prstGeom>
          <a:noFill/>
          <a:ln/>
        </p:spPr>
        <p:txBody>
          <a:bodyPr wrap="square" lIns="0" tIns="0" rIns="0" bIns="0" rtlCol="0" anchor="ctr"/>
          <a:lstStyle/>
          <a:p>
            <a:pPr marL="0" indent="0">
              <a:buNone/>
            </a:pPr>
            <a:r>
              <a:rPr lang="en-US" sz="6000" b="1" dirty="0">
                <a:solidFill>
                  <a:schemeClr val="accent1"/>
                </a:solidFill>
                <a:latin typeface="Cambria" pitchFamily="34" charset="0"/>
                <a:ea typeface="Cambria" pitchFamily="34" charset="-122"/>
                <a:cs typeface="Cambria" pitchFamily="34" charset="-120"/>
              </a:rPr>
              <a:t>78</a:t>
            </a:r>
            <a:endParaRPr lang="en-US" sz="6000" dirty="0"/>
          </a:p>
        </p:txBody>
      </p:sp>
      <p:sp>
        <p:nvSpPr>
          <p:cNvPr id="11" name="Text 9"/>
          <p:cNvSpPr txBox="1"/>
          <p:nvPr/>
        </p:nvSpPr>
        <p:spPr>
          <a:xfrm>
            <a:off x="8321040" y="2880360"/>
            <a:ext cx="2971800" cy="822960"/>
          </a:xfrm>
          <a:prstGeom prst="rect">
            <a:avLst/>
          </a:prstGeom>
          <a:noFill/>
          <a:ln/>
        </p:spPr>
        <p:txBody>
          <a:bodyPr wrap="square" lIns="0" tIns="0" rIns="0" bIns="0" rtlCol="0" anchor="t"/>
          <a:lstStyle/>
          <a:p>
            <a:pPr marL="0" indent="0">
              <a:buNone/>
            </a:pPr>
            <a:r>
              <a:rPr lang="en-US" sz="1800" dirty="0">
                <a:solidFill>
                  <a:schemeClr val="tx1"/>
                </a:solidFill>
              </a:rPr>
              <a:t>features per hand, built from 21 landmarks</a:t>
            </a:r>
            <a:endParaRPr lang="en-US" sz="1800" dirty="0"/>
          </a:p>
        </p:txBody>
      </p:sp>
      <p:sp>
        <p:nvSpPr>
          <p:cNvPr id="12" name="Feature vector card"/>
          <p:cNvSpPr/>
          <p:nvPr/>
        </p:nvSpPr>
        <p:spPr>
          <a:xfrm>
            <a:off x="640080" y="4114800"/>
            <a:ext cx="10927080" cy="2011680"/>
          </a:xfrm>
          <a:prstGeom prst="roundRect">
            <a:avLst>
              <a:gd name="adj" fmla="val 6818"/>
            </a:avLst>
          </a:prstGeom>
          <a:solidFill>
            <a:schemeClr val="accent5"/>
          </a:solidFill>
          <a:ln w="9525">
            <a:solidFill>
              <a:srgbClr val="E1E4F7"/>
            </a:solidFill>
            <a:prstDash val="solid"/>
          </a:ln>
          <a:effectLst>
            <a:outerShdw blurRad="101600" dist="25400" dir="5400000" algn="bl" rotWithShape="0">
              <a:srgbClr val="5B63C4">
                <a:alpha val="12000"/>
              </a:srgbClr>
            </a:outerShdw>
          </a:effectLst>
        </p:spPr>
      </p:sp>
      <p:sp>
        <p:nvSpPr>
          <p:cNvPr id="13" name="Text 11"/>
          <p:cNvSpPr txBox="1"/>
          <p:nvPr/>
        </p:nvSpPr>
        <p:spPr>
          <a:xfrm>
            <a:off x="960120" y="4297680"/>
            <a:ext cx="10058400" cy="457200"/>
          </a:xfrm>
          <a:prstGeom prst="rect">
            <a:avLst/>
          </a:prstGeom>
          <a:noFill/>
          <a:ln/>
        </p:spPr>
        <p:txBody>
          <a:bodyPr wrap="square" lIns="0" tIns="0" rIns="0" bIns="0" rtlCol="0" anchor="ctr"/>
          <a:lstStyle/>
          <a:p>
            <a:pPr marL="0" indent="0">
              <a:buNone/>
            </a:pPr>
            <a:r>
              <a:rPr lang="en-US" sz="2000" b="1" dirty="0">
                <a:solidFill>
                  <a:schemeClr val="accent1"/>
                </a:solidFill>
                <a:latin typeface="Cambria" pitchFamily="34" charset="0"/>
                <a:ea typeface="Cambria" pitchFamily="34" charset="-122"/>
                <a:cs typeface="Cambria" pitchFamily="34" charset="-120"/>
              </a:rPr>
              <a:t>From landmarks to a 78-feature vector</a:t>
            </a:r>
            <a:endParaRPr lang="en-US" sz="2000" dirty="0"/>
          </a:p>
        </p:txBody>
      </p:sp>
      <p:sp>
        <p:nvSpPr>
          <p:cNvPr id="14" name="Text 12"/>
          <p:cNvSpPr txBox="1"/>
          <p:nvPr/>
        </p:nvSpPr>
        <p:spPr>
          <a:xfrm>
            <a:off x="960120" y="4846320"/>
            <a:ext cx="10241280" cy="118872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tx1"/>
                </a:solidFill>
              </a:rPr>
              <a:t>63 raw values (21 landmarks × x, y, z) become joint positions, fingertip distances and finger-bending information</a:t>
            </a:r>
            <a:endParaRPr lang="en-US" sz="1800" dirty="0"/>
          </a:p>
          <a:p>
            <a:pPr marL="342900" indent="-342900">
              <a:spcAft>
                <a:spcPts val="800"/>
              </a:spcAft>
              <a:buSzPct val="100000"/>
              <a:buChar char="•"/>
            </a:pPr>
            <a:r>
              <a:rPr lang="en-US" sz="1800" dirty="0">
                <a:solidFill>
                  <a:schemeClr val="tx1"/>
                </a:solidFill>
              </a:rPr>
              <a:t>Normalised to reduce the effect of hand position, camera distance and lighting; 80/20 train-test split</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10881360" cy="914400"/>
          </a:xfrm>
          <a:prstGeom prst="rect">
            <a:avLst/>
          </a:prstGeom>
          <a:noFill/>
          <a:ln/>
        </p:spPr>
        <p:txBody>
          <a:bodyPr wrap="square" lIns="0" tIns="0" rIns="0" bIns="0" rtlCol="0" anchor="ctr"/>
          <a:lstStyle/>
          <a:p>
            <a:pPr marL="0" indent="0" algn="l">
              <a:buNone/>
            </a:pPr>
            <a:r>
              <a:rPr lang="en-US" sz="4000" b="1" dirty="0">
                <a:solidFill>
                  <a:schemeClr val="tx1"/>
                </a:solidFill>
              </a:rPr>
              <a:t>Model: lightweight MLP</a:t>
            </a:r>
            <a:endParaRPr lang="en-US" sz="4000" dirty="0"/>
          </a:p>
        </p:txBody>
      </p:sp>
      <p:sp>
        <p:nvSpPr>
          <p:cNvPr id="3" name="Block Input"/>
          <p:cNvSpPr/>
          <p:nvPr/>
        </p:nvSpPr>
        <p:spPr>
          <a:xfrm>
            <a:off x="640080" y="1828800"/>
            <a:ext cx="1965960" cy="2011680"/>
          </a:xfrm>
          <a:prstGeom prst="roundRect">
            <a:avLst>
              <a:gd name="adj" fmla="val 6977"/>
            </a:avLst>
          </a:prstGeom>
          <a:solidFill>
            <a:schemeClr val="accent4"/>
          </a:solidFill>
          <a:ln w="12700">
            <a:solidFill>
              <a:schemeClr val="accent4"/>
            </a:solidFill>
            <a:prstDash val="solid"/>
          </a:ln>
          <a:effectLst>
            <a:outerShdw blurRad="101600" dist="25400" dir="5400000" algn="bl" rotWithShape="0">
              <a:srgbClr val="5B63C4">
                <a:alpha val="12000"/>
              </a:srgbClr>
            </a:outerShdw>
          </a:effectLst>
        </p:spPr>
      </p:sp>
      <p:sp>
        <p:nvSpPr>
          <p:cNvPr id="4" name="Text 2"/>
          <p:cNvSpPr txBox="1"/>
          <p:nvPr/>
        </p:nvSpPr>
        <p:spPr>
          <a:xfrm>
            <a:off x="777240" y="2011680"/>
            <a:ext cx="1691640" cy="548640"/>
          </a:xfrm>
          <a:prstGeom prst="rect">
            <a:avLst/>
          </a:prstGeom>
          <a:noFill/>
          <a:ln/>
        </p:spPr>
        <p:txBody>
          <a:bodyPr wrap="square" lIns="0" tIns="0" rIns="0" bIns="0" rtlCol="0" anchor="ctr"/>
          <a:lstStyle/>
          <a:p>
            <a:pPr marL="0" indent="0" algn="ctr">
              <a:buNone/>
            </a:pPr>
            <a:r>
              <a:rPr lang="en-US" sz="1900" b="1" dirty="0">
                <a:solidFill>
                  <a:schemeClr val="tx1"/>
                </a:solidFill>
                <a:latin typeface="Cambria" pitchFamily="34" charset="0"/>
                <a:ea typeface="Cambria" pitchFamily="34" charset="-122"/>
                <a:cs typeface="Cambria" pitchFamily="34" charset="-120"/>
              </a:rPr>
              <a:t>Input</a:t>
            </a:r>
            <a:endParaRPr lang="en-US" sz="1900" dirty="0"/>
          </a:p>
        </p:txBody>
      </p:sp>
      <p:sp>
        <p:nvSpPr>
          <p:cNvPr id="5" name="Text 3"/>
          <p:cNvSpPr txBox="1"/>
          <p:nvPr/>
        </p:nvSpPr>
        <p:spPr>
          <a:xfrm>
            <a:off x="777240" y="2606040"/>
            <a:ext cx="1691640" cy="1097280"/>
          </a:xfrm>
          <a:prstGeom prst="rect">
            <a:avLst/>
          </a:prstGeom>
          <a:noFill/>
          <a:ln/>
        </p:spPr>
        <p:txBody>
          <a:bodyPr wrap="square" lIns="0" tIns="0" rIns="0" bIns="0" rtlCol="0" anchor="t"/>
          <a:lstStyle/>
          <a:p>
            <a:pPr marL="0" indent="0" algn="ctr">
              <a:buNone/>
            </a:pPr>
            <a:r>
              <a:rPr lang="en-US" sz="1600" dirty="0">
                <a:solidFill>
                  <a:schemeClr val="tx1"/>
                </a:solidFill>
              </a:rPr>
              <a:t>78 features</a:t>
            </a:r>
            <a:endParaRPr lang="en-US" sz="1600" dirty="0"/>
          </a:p>
        </p:txBody>
      </p:sp>
      <p:sp>
        <p:nvSpPr>
          <p:cNvPr id="6" name="Text 4"/>
          <p:cNvSpPr txBox="1"/>
          <p:nvPr/>
        </p:nvSpPr>
        <p:spPr>
          <a:xfrm>
            <a:off x="2606040" y="2468880"/>
            <a:ext cx="274320" cy="731520"/>
          </a:xfrm>
          <a:prstGeom prst="rect">
            <a:avLst/>
          </a:prstGeom>
          <a:noFill/>
          <a:ln/>
        </p:spPr>
        <p:txBody>
          <a:bodyPr wrap="square" lIns="0" tIns="0" rIns="0" bIns="0" rtlCol="0" anchor="ctr"/>
          <a:lstStyle/>
          <a:p>
            <a:pPr marL="0" indent="0" algn="ctr">
              <a:buNone/>
            </a:pPr>
            <a:r>
              <a:rPr lang="en-US" sz="3000" b="1" dirty="0">
                <a:solidFill>
                  <a:schemeClr val="accent1"/>
                </a:solidFill>
              </a:rPr>
              <a:t>›</a:t>
            </a:r>
            <a:endParaRPr lang="en-US" sz="3000" dirty="0"/>
          </a:p>
        </p:txBody>
      </p:sp>
      <p:sp>
        <p:nvSpPr>
          <p:cNvPr id="7" name="Block Gaussian noise"/>
          <p:cNvSpPr/>
          <p:nvPr/>
        </p:nvSpPr>
        <p:spPr>
          <a:xfrm>
            <a:off x="2880360" y="1828800"/>
            <a:ext cx="1965960" cy="2011680"/>
          </a:xfrm>
          <a:prstGeom prst="roundRect">
            <a:avLst>
              <a:gd name="adj" fmla="val 6977"/>
            </a:avLst>
          </a:prstGeom>
          <a:solidFill>
            <a:schemeClr val="accent3"/>
          </a:solidFill>
          <a:ln w="12700">
            <a:solidFill>
              <a:schemeClr val="accent3"/>
            </a:solidFill>
            <a:prstDash val="solid"/>
          </a:ln>
          <a:effectLst>
            <a:outerShdw blurRad="101600" dist="25400" dir="5400000" algn="bl" rotWithShape="0">
              <a:srgbClr val="5B63C4">
                <a:alpha val="12000"/>
              </a:srgbClr>
            </a:outerShdw>
          </a:effectLst>
        </p:spPr>
      </p:sp>
      <p:sp>
        <p:nvSpPr>
          <p:cNvPr id="8" name="Text 6"/>
          <p:cNvSpPr txBox="1"/>
          <p:nvPr/>
        </p:nvSpPr>
        <p:spPr>
          <a:xfrm>
            <a:off x="3017520" y="2011680"/>
            <a:ext cx="1691640" cy="548640"/>
          </a:xfrm>
          <a:prstGeom prst="rect">
            <a:avLst/>
          </a:prstGeom>
          <a:noFill/>
          <a:ln/>
        </p:spPr>
        <p:txBody>
          <a:bodyPr wrap="square" lIns="0" tIns="0" rIns="0" bIns="0" rtlCol="0" anchor="ctr"/>
          <a:lstStyle/>
          <a:p>
            <a:pPr marL="0" indent="0" algn="ctr">
              <a:buNone/>
            </a:pPr>
            <a:r>
              <a:rPr lang="en-US" sz="1900" b="1" dirty="0">
                <a:solidFill>
                  <a:schemeClr val="tx1"/>
                </a:solidFill>
                <a:latin typeface="Cambria" pitchFamily="34" charset="0"/>
                <a:ea typeface="Cambria" pitchFamily="34" charset="-122"/>
                <a:cs typeface="Cambria" pitchFamily="34" charset="-120"/>
              </a:rPr>
              <a:t>Gaussian noise</a:t>
            </a:r>
            <a:endParaRPr lang="en-US" sz="1900" dirty="0"/>
          </a:p>
        </p:txBody>
      </p:sp>
      <p:sp>
        <p:nvSpPr>
          <p:cNvPr id="9" name="Text 7"/>
          <p:cNvSpPr txBox="1"/>
          <p:nvPr/>
        </p:nvSpPr>
        <p:spPr>
          <a:xfrm>
            <a:off x="3017520" y="2606040"/>
            <a:ext cx="1691640" cy="1097280"/>
          </a:xfrm>
          <a:prstGeom prst="rect">
            <a:avLst/>
          </a:prstGeom>
          <a:noFill/>
          <a:ln/>
        </p:spPr>
        <p:txBody>
          <a:bodyPr wrap="square" lIns="0" tIns="0" rIns="0" bIns="0" rtlCol="0" anchor="t"/>
          <a:lstStyle/>
          <a:p>
            <a:pPr marL="0" indent="0" algn="ctr">
              <a:buNone/>
            </a:pPr>
            <a:r>
              <a:rPr lang="en-US" sz="1600" dirty="0">
                <a:solidFill>
                  <a:schemeClr val="tx1"/>
                </a:solidFill>
              </a:rPr>
              <a:t>σ = 0.05</a:t>
            </a:r>
            <a:endParaRPr lang="en-US" sz="1600" dirty="0"/>
          </a:p>
          <a:p>
            <a:pPr marL="0" indent="0" algn="ctr">
              <a:buNone/>
            </a:pPr>
            <a:r>
              <a:rPr lang="en-US" sz="1600" dirty="0">
                <a:solidFill>
                  <a:schemeClr val="tx1"/>
                </a:solidFill>
              </a:rPr>
              <a:t>(training only)</a:t>
            </a:r>
            <a:endParaRPr lang="en-US" sz="1600" dirty="0"/>
          </a:p>
        </p:txBody>
      </p:sp>
      <p:sp>
        <p:nvSpPr>
          <p:cNvPr id="10" name="Text 8"/>
          <p:cNvSpPr txBox="1"/>
          <p:nvPr/>
        </p:nvSpPr>
        <p:spPr>
          <a:xfrm>
            <a:off x="4846320" y="2468880"/>
            <a:ext cx="274320" cy="731520"/>
          </a:xfrm>
          <a:prstGeom prst="rect">
            <a:avLst/>
          </a:prstGeom>
          <a:noFill/>
          <a:ln/>
        </p:spPr>
        <p:txBody>
          <a:bodyPr wrap="square" lIns="0" tIns="0" rIns="0" bIns="0" rtlCol="0" anchor="ctr"/>
          <a:lstStyle/>
          <a:p>
            <a:pPr marL="0" indent="0" algn="ctr">
              <a:buNone/>
            </a:pPr>
            <a:r>
              <a:rPr lang="en-US" sz="3000" b="1" dirty="0">
                <a:solidFill>
                  <a:schemeClr val="accent1"/>
                </a:solidFill>
              </a:rPr>
              <a:t>›</a:t>
            </a:r>
            <a:endParaRPr lang="en-US" sz="3000" dirty="0"/>
          </a:p>
        </p:txBody>
      </p:sp>
      <p:sp>
        <p:nvSpPr>
          <p:cNvPr id="11" name="Block Dense 256"/>
          <p:cNvSpPr/>
          <p:nvPr/>
        </p:nvSpPr>
        <p:spPr>
          <a:xfrm>
            <a:off x="5120640" y="1828800"/>
            <a:ext cx="1965960" cy="2011680"/>
          </a:xfrm>
          <a:prstGeom prst="roundRect">
            <a:avLst>
              <a:gd name="adj" fmla="val 6977"/>
            </a:avLst>
          </a:prstGeom>
          <a:solidFill>
            <a:schemeClr val="accent2"/>
          </a:solidFill>
          <a:ln w="12700">
            <a:solidFill>
              <a:schemeClr val="accent2"/>
            </a:solidFill>
            <a:prstDash val="solid"/>
          </a:ln>
          <a:effectLst>
            <a:outerShdw blurRad="101600" dist="25400" dir="5400000" algn="bl" rotWithShape="0">
              <a:srgbClr val="5B63C4">
                <a:alpha val="12000"/>
              </a:srgbClr>
            </a:outerShdw>
          </a:effectLst>
        </p:spPr>
      </p:sp>
      <p:sp>
        <p:nvSpPr>
          <p:cNvPr id="12" name="Text 10"/>
          <p:cNvSpPr txBox="1"/>
          <p:nvPr/>
        </p:nvSpPr>
        <p:spPr>
          <a:xfrm>
            <a:off x="5257800" y="2011680"/>
            <a:ext cx="1691640" cy="548640"/>
          </a:xfrm>
          <a:prstGeom prst="rect">
            <a:avLst/>
          </a:prstGeom>
          <a:noFill/>
          <a:ln/>
        </p:spPr>
        <p:txBody>
          <a:bodyPr wrap="square" lIns="0" tIns="0" rIns="0" bIns="0" rtlCol="0" anchor="ctr"/>
          <a:lstStyle/>
          <a:p>
            <a:pPr marL="0" indent="0" algn="ctr">
              <a:buNone/>
            </a:pPr>
            <a:r>
              <a:rPr lang="en-US" sz="1900" b="1" dirty="0">
                <a:solidFill>
                  <a:schemeClr val="tx1"/>
                </a:solidFill>
                <a:latin typeface="Cambria" pitchFamily="34" charset="0"/>
                <a:ea typeface="Cambria" pitchFamily="34" charset="-122"/>
                <a:cs typeface="Cambria" pitchFamily="34" charset="-120"/>
              </a:rPr>
              <a:t>Dense 256</a:t>
            </a:r>
            <a:endParaRPr lang="en-US" sz="1900" dirty="0"/>
          </a:p>
        </p:txBody>
      </p:sp>
      <p:sp>
        <p:nvSpPr>
          <p:cNvPr id="13" name="Text 11"/>
          <p:cNvSpPr txBox="1"/>
          <p:nvPr/>
        </p:nvSpPr>
        <p:spPr>
          <a:xfrm>
            <a:off x="5257800" y="2606040"/>
            <a:ext cx="1691640" cy="1097280"/>
          </a:xfrm>
          <a:prstGeom prst="rect">
            <a:avLst/>
          </a:prstGeom>
          <a:noFill/>
          <a:ln/>
        </p:spPr>
        <p:txBody>
          <a:bodyPr wrap="square" lIns="0" tIns="0" rIns="0" bIns="0" rtlCol="0" anchor="t"/>
          <a:lstStyle/>
          <a:p>
            <a:pPr marL="0" indent="0" algn="ctr">
              <a:buNone/>
            </a:pPr>
            <a:r>
              <a:rPr lang="en-US" sz="1600" dirty="0">
                <a:solidFill>
                  <a:schemeClr val="tx1"/>
                </a:solidFill>
              </a:rPr>
              <a:t>ReLU + BatchNorm</a:t>
            </a:r>
            <a:endParaRPr lang="en-US" sz="1600" dirty="0"/>
          </a:p>
          <a:p>
            <a:pPr marL="0" indent="0" algn="ctr">
              <a:buNone/>
            </a:pPr>
            <a:r>
              <a:rPr lang="en-US" sz="1600" dirty="0">
                <a:solidFill>
                  <a:schemeClr val="tx1"/>
                </a:solidFill>
              </a:rPr>
              <a:t>+ Dropout 0.3</a:t>
            </a:r>
            <a:endParaRPr lang="en-US" sz="1600" dirty="0"/>
          </a:p>
        </p:txBody>
      </p:sp>
      <p:sp>
        <p:nvSpPr>
          <p:cNvPr id="14" name="Text 12"/>
          <p:cNvSpPr txBox="1"/>
          <p:nvPr/>
        </p:nvSpPr>
        <p:spPr>
          <a:xfrm>
            <a:off x="7086600" y="2468880"/>
            <a:ext cx="274320" cy="731520"/>
          </a:xfrm>
          <a:prstGeom prst="rect">
            <a:avLst/>
          </a:prstGeom>
          <a:noFill/>
          <a:ln/>
        </p:spPr>
        <p:txBody>
          <a:bodyPr wrap="square" lIns="0" tIns="0" rIns="0" bIns="0" rtlCol="0" anchor="ctr"/>
          <a:lstStyle/>
          <a:p>
            <a:pPr marL="0" indent="0" algn="ctr">
              <a:buNone/>
            </a:pPr>
            <a:r>
              <a:rPr lang="en-US" sz="3000" b="1" dirty="0">
                <a:solidFill>
                  <a:schemeClr val="accent1"/>
                </a:solidFill>
              </a:rPr>
              <a:t>›</a:t>
            </a:r>
            <a:endParaRPr lang="en-US" sz="3000" dirty="0"/>
          </a:p>
        </p:txBody>
      </p:sp>
      <p:sp>
        <p:nvSpPr>
          <p:cNvPr id="15" name="Block Dense 128"/>
          <p:cNvSpPr/>
          <p:nvPr/>
        </p:nvSpPr>
        <p:spPr>
          <a:xfrm>
            <a:off x="7360920" y="1828800"/>
            <a:ext cx="1965960" cy="2011680"/>
          </a:xfrm>
          <a:prstGeom prst="roundRect">
            <a:avLst>
              <a:gd name="adj" fmla="val 6977"/>
            </a:avLst>
          </a:prstGeom>
          <a:solidFill>
            <a:schemeClr val="accent2"/>
          </a:solidFill>
          <a:ln w="12700">
            <a:solidFill>
              <a:schemeClr val="accent2"/>
            </a:solidFill>
            <a:prstDash val="solid"/>
          </a:ln>
          <a:effectLst>
            <a:outerShdw blurRad="101600" dist="25400" dir="5400000" algn="bl" rotWithShape="0">
              <a:srgbClr val="5B63C4">
                <a:alpha val="12000"/>
              </a:srgbClr>
            </a:outerShdw>
          </a:effectLst>
        </p:spPr>
      </p:sp>
      <p:sp>
        <p:nvSpPr>
          <p:cNvPr id="16" name="Text 14"/>
          <p:cNvSpPr txBox="1"/>
          <p:nvPr/>
        </p:nvSpPr>
        <p:spPr>
          <a:xfrm>
            <a:off x="7498080" y="2011680"/>
            <a:ext cx="1691640" cy="548640"/>
          </a:xfrm>
          <a:prstGeom prst="rect">
            <a:avLst/>
          </a:prstGeom>
          <a:noFill/>
          <a:ln/>
        </p:spPr>
        <p:txBody>
          <a:bodyPr wrap="square" lIns="0" tIns="0" rIns="0" bIns="0" rtlCol="0" anchor="ctr"/>
          <a:lstStyle/>
          <a:p>
            <a:pPr marL="0" indent="0" algn="ctr">
              <a:buNone/>
            </a:pPr>
            <a:r>
              <a:rPr lang="en-US" sz="1900" b="1" dirty="0">
                <a:solidFill>
                  <a:schemeClr val="tx1"/>
                </a:solidFill>
                <a:latin typeface="Cambria" pitchFamily="34" charset="0"/>
                <a:ea typeface="Cambria" pitchFamily="34" charset="-122"/>
                <a:cs typeface="Cambria" pitchFamily="34" charset="-120"/>
              </a:rPr>
              <a:t>Dense 128</a:t>
            </a:r>
            <a:endParaRPr lang="en-US" sz="1900" dirty="0"/>
          </a:p>
        </p:txBody>
      </p:sp>
      <p:sp>
        <p:nvSpPr>
          <p:cNvPr id="17" name="Text 15"/>
          <p:cNvSpPr txBox="1"/>
          <p:nvPr/>
        </p:nvSpPr>
        <p:spPr>
          <a:xfrm>
            <a:off x="7498080" y="2606040"/>
            <a:ext cx="1691640" cy="1097280"/>
          </a:xfrm>
          <a:prstGeom prst="rect">
            <a:avLst/>
          </a:prstGeom>
          <a:noFill/>
          <a:ln/>
        </p:spPr>
        <p:txBody>
          <a:bodyPr wrap="square" lIns="0" tIns="0" rIns="0" bIns="0" rtlCol="0" anchor="t"/>
          <a:lstStyle/>
          <a:p>
            <a:pPr marL="0" indent="0" algn="ctr">
              <a:buNone/>
            </a:pPr>
            <a:r>
              <a:rPr lang="en-US" sz="1600" dirty="0">
                <a:solidFill>
                  <a:schemeClr val="tx1"/>
                </a:solidFill>
              </a:rPr>
              <a:t>ReLU + BatchNorm</a:t>
            </a:r>
            <a:endParaRPr lang="en-US" sz="1600" dirty="0"/>
          </a:p>
          <a:p>
            <a:pPr marL="0" indent="0" algn="ctr">
              <a:buNone/>
            </a:pPr>
            <a:r>
              <a:rPr lang="en-US" sz="1600" dirty="0">
                <a:solidFill>
                  <a:schemeClr val="tx1"/>
                </a:solidFill>
              </a:rPr>
              <a:t>+ Dropout 0.3</a:t>
            </a:r>
            <a:endParaRPr lang="en-US" sz="1600" dirty="0"/>
          </a:p>
        </p:txBody>
      </p:sp>
      <p:sp>
        <p:nvSpPr>
          <p:cNvPr id="18" name="Text 16"/>
          <p:cNvSpPr txBox="1"/>
          <p:nvPr/>
        </p:nvSpPr>
        <p:spPr>
          <a:xfrm>
            <a:off x="9326880" y="2468880"/>
            <a:ext cx="274320" cy="731520"/>
          </a:xfrm>
          <a:prstGeom prst="rect">
            <a:avLst/>
          </a:prstGeom>
          <a:noFill/>
          <a:ln/>
        </p:spPr>
        <p:txBody>
          <a:bodyPr wrap="square" lIns="0" tIns="0" rIns="0" bIns="0" rtlCol="0" anchor="ctr"/>
          <a:lstStyle/>
          <a:p>
            <a:pPr marL="0" indent="0" algn="ctr">
              <a:buNone/>
            </a:pPr>
            <a:r>
              <a:rPr lang="en-US" sz="3000" b="1" dirty="0">
                <a:solidFill>
                  <a:schemeClr val="accent1"/>
                </a:solidFill>
              </a:rPr>
              <a:t>›</a:t>
            </a:r>
            <a:endParaRPr lang="en-US" sz="3000" dirty="0"/>
          </a:p>
        </p:txBody>
      </p:sp>
      <p:sp>
        <p:nvSpPr>
          <p:cNvPr id="19" name="Block Output"/>
          <p:cNvSpPr/>
          <p:nvPr/>
        </p:nvSpPr>
        <p:spPr>
          <a:xfrm>
            <a:off x="9601200" y="1828800"/>
            <a:ext cx="1965960" cy="2011680"/>
          </a:xfrm>
          <a:prstGeom prst="roundRect">
            <a:avLst>
              <a:gd name="adj" fmla="val 6977"/>
            </a:avLst>
          </a:prstGeom>
          <a:solidFill>
            <a:schemeClr val="accent4"/>
          </a:solidFill>
          <a:ln w="12700">
            <a:solidFill>
              <a:schemeClr val="accent4"/>
            </a:solidFill>
            <a:prstDash val="solid"/>
          </a:ln>
          <a:effectLst>
            <a:outerShdw blurRad="101600" dist="25400" dir="5400000" algn="bl" rotWithShape="0">
              <a:srgbClr val="5B63C4">
                <a:alpha val="12000"/>
              </a:srgbClr>
            </a:outerShdw>
          </a:effectLst>
        </p:spPr>
      </p:sp>
      <p:sp>
        <p:nvSpPr>
          <p:cNvPr id="20" name="Text 18"/>
          <p:cNvSpPr txBox="1"/>
          <p:nvPr/>
        </p:nvSpPr>
        <p:spPr>
          <a:xfrm>
            <a:off x="9738360" y="2011680"/>
            <a:ext cx="1691640" cy="548640"/>
          </a:xfrm>
          <a:prstGeom prst="rect">
            <a:avLst/>
          </a:prstGeom>
          <a:noFill/>
          <a:ln/>
        </p:spPr>
        <p:txBody>
          <a:bodyPr wrap="square" lIns="0" tIns="0" rIns="0" bIns="0" rtlCol="0" anchor="ctr"/>
          <a:lstStyle/>
          <a:p>
            <a:pPr marL="0" indent="0" algn="ctr">
              <a:buNone/>
            </a:pPr>
            <a:r>
              <a:rPr lang="en-US" sz="1900" b="1" dirty="0">
                <a:solidFill>
                  <a:schemeClr val="tx1"/>
                </a:solidFill>
                <a:latin typeface="Cambria" pitchFamily="34" charset="0"/>
                <a:ea typeface="Cambria" pitchFamily="34" charset="-122"/>
                <a:cs typeface="Cambria" pitchFamily="34" charset="-120"/>
              </a:rPr>
              <a:t>Output</a:t>
            </a:r>
            <a:endParaRPr lang="en-US" sz="1900" dirty="0"/>
          </a:p>
        </p:txBody>
      </p:sp>
      <p:sp>
        <p:nvSpPr>
          <p:cNvPr id="21" name="Text 19"/>
          <p:cNvSpPr txBox="1"/>
          <p:nvPr/>
        </p:nvSpPr>
        <p:spPr>
          <a:xfrm>
            <a:off x="9738360" y="2606040"/>
            <a:ext cx="1691640" cy="1097280"/>
          </a:xfrm>
          <a:prstGeom prst="rect">
            <a:avLst/>
          </a:prstGeom>
          <a:noFill/>
          <a:ln/>
        </p:spPr>
        <p:txBody>
          <a:bodyPr wrap="square" lIns="0" tIns="0" rIns="0" bIns="0" rtlCol="0" anchor="t"/>
          <a:lstStyle/>
          <a:p>
            <a:pPr marL="0" indent="0" algn="ctr">
              <a:buNone/>
            </a:pPr>
            <a:r>
              <a:rPr lang="en-US" sz="1600" dirty="0">
                <a:solidFill>
                  <a:schemeClr val="tx1"/>
                </a:solidFill>
              </a:rPr>
              <a:t>36 logits</a:t>
            </a:r>
            <a:endParaRPr lang="en-US" sz="1600" dirty="0"/>
          </a:p>
          <a:p>
            <a:pPr marL="0" indent="0" algn="ctr">
              <a:buNone/>
            </a:pPr>
            <a:r>
              <a:rPr lang="en-US" sz="1600" dirty="0">
                <a:solidFill>
                  <a:schemeClr val="tx1"/>
                </a:solidFill>
              </a:rPr>
              <a:t>(one per class)</a:t>
            </a:r>
            <a:endParaRPr lang="en-US" sz="1600" dirty="0"/>
          </a:p>
        </p:txBody>
      </p:sp>
      <p:sp>
        <p:nvSpPr>
          <p:cNvPr id="22" name="Training card"/>
          <p:cNvSpPr/>
          <p:nvPr/>
        </p:nvSpPr>
        <p:spPr>
          <a:xfrm>
            <a:off x="640080" y="4206240"/>
            <a:ext cx="10927080" cy="1828800"/>
          </a:xfrm>
          <a:prstGeom prst="roundRect">
            <a:avLst>
              <a:gd name="adj" fmla="val 7500"/>
            </a:avLst>
          </a:prstGeom>
          <a:solidFill>
            <a:schemeClr val="bg1"/>
          </a:solidFill>
          <a:ln w="9525">
            <a:solidFill>
              <a:srgbClr val="E1E4F7"/>
            </a:solidFill>
            <a:prstDash val="solid"/>
          </a:ln>
          <a:effectLst>
            <a:outerShdw blurRad="101600" dist="25400" dir="5400000" algn="bl" rotWithShape="0">
              <a:srgbClr val="5B63C4">
                <a:alpha val="12000"/>
              </a:srgbClr>
            </a:outerShdw>
          </a:effectLst>
        </p:spPr>
      </p:sp>
      <p:sp>
        <p:nvSpPr>
          <p:cNvPr id="23" name="Text 21"/>
          <p:cNvSpPr txBox="1"/>
          <p:nvPr/>
        </p:nvSpPr>
        <p:spPr>
          <a:xfrm>
            <a:off x="960120" y="4389120"/>
            <a:ext cx="7315200" cy="457200"/>
          </a:xfrm>
          <a:prstGeom prst="rect">
            <a:avLst/>
          </a:prstGeom>
          <a:noFill/>
          <a:ln/>
        </p:spPr>
        <p:txBody>
          <a:bodyPr wrap="square" lIns="0" tIns="0" rIns="0" bIns="0" rtlCol="0" anchor="ctr"/>
          <a:lstStyle/>
          <a:p>
            <a:pPr marL="0" indent="0">
              <a:buNone/>
            </a:pPr>
            <a:r>
              <a:rPr lang="en-US" sz="2000" b="1" dirty="0">
                <a:solidFill>
                  <a:schemeClr val="accent1"/>
                </a:solidFill>
                <a:latin typeface="Cambria" pitchFamily="34" charset="0"/>
                <a:ea typeface="Cambria" pitchFamily="34" charset="-122"/>
                <a:cs typeface="Cambria" pitchFamily="34" charset="-120"/>
              </a:rPr>
              <a:t>Training and deployment</a:t>
            </a:r>
            <a:endParaRPr lang="en-US" sz="2000" dirty="0"/>
          </a:p>
        </p:txBody>
      </p:sp>
      <p:sp>
        <p:nvSpPr>
          <p:cNvPr id="24" name="Text 22"/>
          <p:cNvSpPr txBox="1"/>
          <p:nvPr/>
        </p:nvSpPr>
        <p:spPr>
          <a:xfrm>
            <a:off x="960120" y="4937760"/>
            <a:ext cx="10241280" cy="100584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tx1"/>
                </a:solidFill>
              </a:rPr>
              <a:t>Adam optimiser (learning rate 0.001), categorical cross-entropy, 100 epochs, batch size 32</a:t>
            </a:r>
            <a:endParaRPr lang="en-US" sz="1800" dirty="0"/>
          </a:p>
          <a:p>
            <a:pPr marL="342900" indent="-342900">
              <a:spcAft>
                <a:spcPts val="800"/>
              </a:spcAft>
              <a:buSzPct val="100000"/>
              <a:buChar char="•"/>
            </a:pPr>
            <a:r>
              <a:rPr lang="en-US" sz="1800" dirty="0">
                <a:solidFill>
                  <a:schemeClr val="tx1"/>
                </a:solidFill>
              </a:rPr>
              <a:t>Converted to TensorFlow Lite for fast, offline inference on the phone</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10881360" cy="914400"/>
          </a:xfrm>
          <a:prstGeom prst="rect">
            <a:avLst/>
          </a:prstGeom>
          <a:noFill/>
          <a:ln/>
        </p:spPr>
        <p:txBody>
          <a:bodyPr wrap="square" lIns="0" tIns="0" rIns="0" bIns="0" rtlCol="0" anchor="ctr"/>
          <a:lstStyle/>
          <a:p>
            <a:pPr marL="0" indent="0" algn="l">
              <a:buNone/>
            </a:pPr>
            <a:r>
              <a:rPr lang="en-US" sz="4000" b="1" dirty="0">
                <a:solidFill>
                  <a:schemeClr val="tx1"/>
                </a:solidFill>
              </a:rPr>
              <a:t>Algorithms used</a:t>
            </a:r>
            <a:endParaRPr lang="en-US" sz="4000" dirty="0"/>
          </a:p>
        </p:txBody>
      </p:sp>
      <p:sp>
        <p:nvSpPr>
          <p:cNvPr id="3" name="Algorithm 1"/>
          <p:cNvSpPr/>
          <p:nvPr/>
        </p:nvSpPr>
        <p:spPr>
          <a:xfrm>
            <a:off x="640080" y="1737360"/>
            <a:ext cx="3520440" cy="4434840"/>
          </a:xfrm>
          <a:prstGeom prst="roundRect">
            <a:avLst>
              <a:gd name="adj" fmla="val 3896"/>
            </a:avLst>
          </a:prstGeom>
          <a:solidFill>
            <a:schemeClr val="bg1"/>
          </a:solidFill>
          <a:ln w="9525">
            <a:solidFill>
              <a:srgbClr val="E1E4F7"/>
            </a:solidFill>
            <a:prstDash val="solid"/>
          </a:ln>
          <a:effectLst>
            <a:outerShdw blurRad="101600" dist="25400" dir="5400000" algn="bl" rotWithShape="0">
              <a:srgbClr val="5B63C4">
                <a:alpha val="12000"/>
              </a:srgbClr>
            </a:outerShdw>
          </a:effectLst>
        </p:spPr>
      </p:sp>
      <p:sp>
        <p:nvSpPr>
          <p:cNvPr id="4" name="Algorithm 1 badge"/>
          <p:cNvSpPr/>
          <p:nvPr/>
        </p:nvSpPr>
        <p:spPr>
          <a:xfrm>
            <a:off x="914400" y="1965960"/>
            <a:ext cx="594360" cy="594360"/>
          </a:xfrm>
          <a:prstGeom prst="ellipse">
            <a:avLst/>
          </a:prstGeom>
          <a:solidFill>
            <a:schemeClr val="accent2"/>
          </a:solidFill>
          <a:ln w="12700">
            <a:solidFill>
              <a:schemeClr val="accent2"/>
            </a:solidFill>
            <a:prstDash val="solid"/>
          </a:ln>
        </p:spPr>
      </p:sp>
      <p:sp>
        <p:nvSpPr>
          <p:cNvPr id="5" name="Algorithm 1 number"/>
          <p:cNvSpPr txBox="1"/>
          <p:nvPr/>
        </p:nvSpPr>
        <p:spPr>
          <a:xfrm>
            <a:off x="914400" y="1965960"/>
            <a:ext cx="594360" cy="594360"/>
          </a:xfrm>
          <a:prstGeom prst="rect">
            <a:avLst/>
          </a:prstGeom>
          <a:noFill/>
          <a:ln/>
        </p:spPr>
        <p:txBody>
          <a:bodyPr wrap="square" lIns="0" tIns="0" rIns="0" bIns="0" rtlCol="0" anchor="ctr"/>
          <a:lstStyle/>
          <a:p>
            <a:pPr marL="0" indent="0" algn="ctr">
              <a:buNone/>
            </a:pPr>
            <a:r>
              <a:rPr lang="en-US" sz="1800" b="1" dirty="0">
                <a:solidFill>
                  <a:schemeClr val="tx1"/>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914400" y="2743200"/>
            <a:ext cx="2971800" cy="457200"/>
          </a:xfrm>
          <a:prstGeom prst="rect">
            <a:avLst/>
          </a:prstGeom>
          <a:noFill/>
          <a:ln/>
        </p:spPr>
        <p:txBody>
          <a:bodyPr wrap="square" lIns="0" tIns="0" rIns="0" bIns="0" rtlCol="0" anchor="ctr"/>
          <a:lstStyle/>
          <a:p>
            <a:pPr marL="0" indent="0">
              <a:buNone/>
            </a:pPr>
            <a:r>
              <a:rPr lang="en-US" sz="2100" b="1" dirty="0">
                <a:solidFill>
                  <a:schemeClr val="accent1"/>
                </a:solidFill>
                <a:latin typeface="Cambria" pitchFamily="34" charset="0"/>
                <a:ea typeface="Cambria" pitchFamily="34" charset="-122"/>
                <a:cs typeface="Cambria" pitchFamily="34" charset="-120"/>
              </a:rPr>
              <a:t>Landmark features</a:t>
            </a:r>
            <a:endParaRPr lang="en-US" sz="2100" dirty="0"/>
          </a:p>
        </p:txBody>
      </p:sp>
      <p:sp>
        <p:nvSpPr>
          <p:cNvPr id="7" name="Text 5"/>
          <p:cNvSpPr txBox="1"/>
          <p:nvPr/>
        </p:nvSpPr>
        <p:spPr>
          <a:xfrm>
            <a:off x="914400" y="3291840"/>
            <a:ext cx="2971800" cy="1280160"/>
          </a:xfrm>
          <a:prstGeom prst="rect">
            <a:avLst/>
          </a:prstGeom>
          <a:noFill/>
          <a:ln/>
        </p:spPr>
        <p:txBody>
          <a:bodyPr wrap="square" lIns="0" tIns="0" rIns="0" bIns="0" rtlCol="0" anchor="t"/>
          <a:lstStyle/>
          <a:p>
            <a:pPr marL="0" indent="0">
              <a:buNone/>
            </a:pPr>
            <a:r>
              <a:rPr lang="en-US" sz="1700" dirty="0">
                <a:solidFill>
                  <a:schemeClr val="tx1"/>
                </a:solidFill>
              </a:rPr>
              <a:t>MediaPipe finds 21 landmarks; positions, fingertip distances and bending are normalised.</a:t>
            </a:r>
            <a:endParaRPr lang="en-US" sz="1700" dirty="0"/>
          </a:p>
        </p:txBody>
      </p:sp>
      <p:sp>
        <p:nvSpPr>
          <p:cNvPr id="8" name="Shape 6"/>
          <p:cNvSpPr/>
          <p:nvPr/>
        </p:nvSpPr>
        <p:spPr>
          <a:xfrm>
            <a:off x="914400" y="4663440"/>
            <a:ext cx="2971800" cy="594360"/>
          </a:xfrm>
          <a:prstGeom prst="roundRect">
            <a:avLst>
              <a:gd name="adj" fmla="val 18462"/>
            </a:avLst>
          </a:prstGeom>
          <a:solidFill>
            <a:schemeClr val="accent4"/>
          </a:solidFill>
          <a:ln w="12700">
            <a:solidFill>
              <a:schemeClr val="accent4"/>
            </a:solidFill>
            <a:prstDash val="solid"/>
          </a:ln>
        </p:spPr>
      </p:sp>
      <p:sp>
        <p:nvSpPr>
          <p:cNvPr id="9" name="Text 7"/>
          <p:cNvSpPr txBox="1"/>
          <p:nvPr/>
        </p:nvSpPr>
        <p:spPr>
          <a:xfrm>
            <a:off x="914400" y="4663440"/>
            <a:ext cx="2971800" cy="594360"/>
          </a:xfrm>
          <a:prstGeom prst="rect">
            <a:avLst/>
          </a:prstGeom>
          <a:noFill/>
          <a:ln/>
        </p:spPr>
        <p:txBody>
          <a:bodyPr wrap="square" lIns="50800" tIns="50800" rIns="50800" bIns="50800" rtlCol="0" anchor="ctr"/>
          <a:lstStyle/>
          <a:p>
            <a:pPr marL="0" indent="0" algn="ctr">
              <a:buNone/>
            </a:pPr>
            <a:r>
              <a:rPr lang="en-US" sz="1500" b="1" dirty="0">
                <a:solidFill>
                  <a:schemeClr val="tx1"/>
                </a:solidFill>
              </a:rPr>
              <a:t>63 raw values to 78 features</a:t>
            </a:r>
            <a:endParaRPr lang="en-US" sz="1500" dirty="0"/>
          </a:p>
        </p:txBody>
      </p:sp>
      <p:sp>
        <p:nvSpPr>
          <p:cNvPr id="10" name="Text 8"/>
          <p:cNvSpPr txBox="1"/>
          <p:nvPr/>
        </p:nvSpPr>
        <p:spPr>
          <a:xfrm>
            <a:off x="914400" y="5394960"/>
            <a:ext cx="2971800" cy="594360"/>
          </a:xfrm>
          <a:prstGeom prst="rect">
            <a:avLst/>
          </a:prstGeom>
          <a:noFill/>
          <a:ln/>
        </p:spPr>
        <p:txBody>
          <a:bodyPr wrap="square" lIns="0" tIns="0" rIns="0" bIns="0" rtlCol="0" anchor="t"/>
          <a:lstStyle/>
          <a:p>
            <a:pPr marL="0" indent="0">
              <a:buNone/>
            </a:pPr>
            <a:r>
              <a:rPr lang="en-US" sz="1600" b="1" dirty="0">
                <a:solidFill>
                  <a:schemeClr val="accent1"/>
                </a:solidFill>
              </a:rPr>
              <a:t>Feature vector fed to the MLP</a:t>
            </a:r>
            <a:endParaRPr lang="en-US" sz="1600" dirty="0"/>
          </a:p>
        </p:txBody>
      </p:sp>
      <p:sp>
        <p:nvSpPr>
          <p:cNvPr id="11" name="Algorithm 2"/>
          <p:cNvSpPr/>
          <p:nvPr/>
        </p:nvSpPr>
        <p:spPr>
          <a:xfrm>
            <a:off x="4343400" y="1737360"/>
            <a:ext cx="3520440" cy="4434840"/>
          </a:xfrm>
          <a:prstGeom prst="roundRect">
            <a:avLst>
              <a:gd name="adj" fmla="val 3896"/>
            </a:avLst>
          </a:prstGeom>
          <a:solidFill>
            <a:schemeClr val="bg1"/>
          </a:solidFill>
          <a:ln w="9525">
            <a:solidFill>
              <a:srgbClr val="E1E4F7"/>
            </a:solidFill>
            <a:prstDash val="solid"/>
          </a:ln>
          <a:effectLst>
            <a:outerShdw blurRad="101600" dist="25400" dir="5400000" algn="bl" rotWithShape="0">
              <a:srgbClr val="5B63C4">
                <a:alpha val="12000"/>
              </a:srgbClr>
            </a:outerShdw>
          </a:effectLst>
        </p:spPr>
      </p:sp>
      <p:sp>
        <p:nvSpPr>
          <p:cNvPr id="12" name="Algorithm 2 badge"/>
          <p:cNvSpPr/>
          <p:nvPr/>
        </p:nvSpPr>
        <p:spPr>
          <a:xfrm>
            <a:off x="4617720" y="1965960"/>
            <a:ext cx="594360" cy="594360"/>
          </a:xfrm>
          <a:prstGeom prst="ellipse">
            <a:avLst/>
          </a:prstGeom>
          <a:solidFill>
            <a:schemeClr val="accent3"/>
          </a:solidFill>
          <a:ln w="12700">
            <a:solidFill>
              <a:schemeClr val="accent3"/>
            </a:solidFill>
            <a:prstDash val="solid"/>
          </a:ln>
        </p:spPr>
      </p:sp>
      <p:sp>
        <p:nvSpPr>
          <p:cNvPr id="13" name="Algorithm 2 number"/>
          <p:cNvSpPr txBox="1"/>
          <p:nvPr/>
        </p:nvSpPr>
        <p:spPr>
          <a:xfrm>
            <a:off x="4617720" y="1965960"/>
            <a:ext cx="594360" cy="594360"/>
          </a:xfrm>
          <a:prstGeom prst="rect">
            <a:avLst/>
          </a:prstGeom>
          <a:noFill/>
          <a:ln/>
        </p:spPr>
        <p:txBody>
          <a:bodyPr wrap="square" lIns="0" tIns="0" rIns="0" bIns="0" rtlCol="0" anchor="ctr"/>
          <a:lstStyle/>
          <a:p>
            <a:pPr marL="0" indent="0" algn="ctr">
              <a:buNone/>
            </a:pPr>
            <a:r>
              <a:rPr lang="en-US" sz="1800" b="1" dirty="0">
                <a:solidFill>
                  <a:schemeClr val="tx1"/>
                </a:solidFill>
                <a:latin typeface="Cambria" pitchFamily="34" charset="0"/>
                <a:ea typeface="Cambria" pitchFamily="34" charset="-122"/>
                <a:cs typeface="Cambria" pitchFamily="34" charset="-120"/>
              </a:rPr>
              <a:t>2</a:t>
            </a:r>
            <a:endParaRPr lang="en-US" sz="1800" dirty="0"/>
          </a:p>
        </p:txBody>
      </p:sp>
      <p:sp>
        <p:nvSpPr>
          <p:cNvPr id="14" name="Text 12"/>
          <p:cNvSpPr txBox="1"/>
          <p:nvPr/>
        </p:nvSpPr>
        <p:spPr>
          <a:xfrm>
            <a:off x="4617720" y="2743200"/>
            <a:ext cx="2971800" cy="457200"/>
          </a:xfrm>
          <a:prstGeom prst="rect">
            <a:avLst/>
          </a:prstGeom>
          <a:noFill/>
          <a:ln/>
        </p:spPr>
        <p:txBody>
          <a:bodyPr wrap="square" lIns="0" tIns="0" rIns="0" bIns="0" rtlCol="0" anchor="ctr"/>
          <a:lstStyle/>
          <a:p>
            <a:pPr marL="0" indent="0">
              <a:buNone/>
            </a:pPr>
            <a:r>
              <a:rPr lang="en-US" sz="2100" b="1" dirty="0">
                <a:solidFill>
                  <a:schemeClr val="accent1"/>
                </a:solidFill>
                <a:latin typeface="Cambria" pitchFamily="34" charset="0"/>
                <a:ea typeface="Cambria" pitchFamily="34" charset="-122"/>
                <a:cs typeface="Cambria" pitchFamily="34" charset="-120"/>
              </a:rPr>
              <a:t>Temporal stabilisation</a:t>
            </a:r>
            <a:endParaRPr lang="en-US" sz="2100" dirty="0"/>
          </a:p>
        </p:txBody>
      </p:sp>
      <p:sp>
        <p:nvSpPr>
          <p:cNvPr id="15" name="Text 13"/>
          <p:cNvSpPr txBox="1"/>
          <p:nvPr/>
        </p:nvSpPr>
        <p:spPr>
          <a:xfrm>
            <a:off x="4617720" y="3291840"/>
            <a:ext cx="2971800" cy="1280160"/>
          </a:xfrm>
          <a:prstGeom prst="rect">
            <a:avLst/>
          </a:prstGeom>
          <a:noFill/>
          <a:ln/>
        </p:spPr>
        <p:txBody>
          <a:bodyPr wrap="square" lIns="0" tIns="0" rIns="0" bIns="0" rtlCol="0" anchor="t"/>
          <a:lstStyle/>
          <a:p>
            <a:pPr marL="0" indent="0">
              <a:buNone/>
            </a:pPr>
            <a:r>
              <a:rPr lang="en-US" sz="1700" dirty="0">
                <a:solidFill>
                  <a:schemeClr val="tx1"/>
                </a:solidFill>
              </a:rPr>
              <a:t>A character is accepted only when predictions agree across consecutive frames.</a:t>
            </a:r>
            <a:endParaRPr lang="en-US" sz="1700" dirty="0"/>
          </a:p>
        </p:txBody>
      </p:sp>
      <p:sp>
        <p:nvSpPr>
          <p:cNvPr id="16" name="Shape 14"/>
          <p:cNvSpPr/>
          <p:nvPr/>
        </p:nvSpPr>
        <p:spPr>
          <a:xfrm>
            <a:off x="4617720" y="4663440"/>
            <a:ext cx="2971800" cy="594360"/>
          </a:xfrm>
          <a:prstGeom prst="roundRect">
            <a:avLst>
              <a:gd name="adj" fmla="val 18462"/>
            </a:avLst>
          </a:prstGeom>
          <a:solidFill>
            <a:schemeClr val="accent4"/>
          </a:solidFill>
          <a:ln w="12700">
            <a:solidFill>
              <a:schemeClr val="accent4"/>
            </a:solidFill>
            <a:prstDash val="solid"/>
          </a:ln>
        </p:spPr>
      </p:sp>
      <p:sp>
        <p:nvSpPr>
          <p:cNvPr id="17" name="Text 15"/>
          <p:cNvSpPr txBox="1"/>
          <p:nvPr/>
        </p:nvSpPr>
        <p:spPr>
          <a:xfrm>
            <a:off x="4617720" y="4663440"/>
            <a:ext cx="2971800" cy="594360"/>
          </a:xfrm>
          <a:prstGeom prst="rect">
            <a:avLst/>
          </a:prstGeom>
          <a:noFill/>
          <a:ln/>
        </p:spPr>
        <p:txBody>
          <a:bodyPr wrap="square" lIns="50800" tIns="50800" rIns="50800" bIns="50800" rtlCol="0" anchor="ctr"/>
          <a:lstStyle/>
          <a:p>
            <a:pPr marL="0" indent="0" algn="ctr">
              <a:buNone/>
            </a:pPr>
            <a:r>
              <a:rPr lang="en-US" sz="1500" b="1" dirty="0">
                <a:solidFill>
                  <a:schemeClr val="tx1"/>
                </a:solidFill>
              </a:rPr>
              <a:t>Same label over several frames</a:t>
            </a:r>
            <a:endParaRPr lang="en-US" sz="1500" dirty="0"/>
          </a:p>
        </p:txBody>
      </p:sp>
      <p:sp>
        <p:nvSpPr>
          <p:cNvPr id="18" name="Text 16"/>
          <p:cNvSpPr txBox="1"/>
          <p:nvPr/>
        </p:nvSpPr>
        <p:spPr>
          <a:xfrm>
            <a:off x="4617720" y="5394960"/>
            <a:ext cx="2971800" cy="594360"/>
          </a:xfrm>
          <a:prstGeom prst="rect">
            <a:avLst/>
          </a:prstGeom>
          <a:noFill/>
          <a:ln/>
        </p:spPr>
        <p:txBody>
          <a:bodyPr wrap="square" lIns="0" tIns="0" rIns="0" bIns="0" rtlCol="0" anchor="t"/>
          <a:lstStyle/>
          <a:p>
            <a:pPr marL="0" indent="0">
              <a:buNone/>
            </a:pPr>
            <a:r>
              <a:rPr lang="en-US" sz="1600" b="1" dirty="0">
                <a:solidFill>
                  <a:schemeClr val="accent1"/>
                </a:solidFill>
              </a:rPr>
              <a:t>Stable and confident = confirmed</a:t>
            </a:r>
            <a:endParaRPr lang="en-US" sz="1600" dirty="0"/>
          </a:p>
        </p:txBody>
      </p:sp>
      <p:sp>
        <p:nvSpPr>
          <p:cNvPr id="19" name="Algorithm 3"/>
          <p:cNvSpPr/>
          <p:nvPr/>
        </p:nvSpPr>
        <p:spPr>
          <a:xfrm>
            <a:off x="8046720" y="1737360"/>
            <a:ext cx="3520440" cy="4434840"/>
          </a:xfrm>
          <a:prstGeom prst="roundRect">
            <a:avLst>
              <a:gd name="adj" fmla="val 3896"/>
            </a:avLst>
          </a:prstGeom>
          <a:solidFill>
            <a:schemeClr val="bg1"/>
          </a:solidFill>
          <a:ln w="9525">
            <a:solidFill>
              <a:srgbClr val="E1E4F7"/>
            </a:solidFill>
            <a:prstDash val="solid"/>
          </a:ln>
          <a:effectLst>
            <a:outerShdw blurRad="101600" dist="25400" dir="5400000" algn="bl" rotWithShape="0">
              <a:srgbClr val="5B63C4">
                <a:alpha val="12000"/>
              </a:srgbClr>
            </a:outerShdw>
          </a:effectLst>
        </p:spPr>
      </p:sp>
      <p:sp>
        <p:nvSpPr>
          <p:cNvPr id="20" name="Algorithm 3 badge"/>
          <p:cNvSpPr/>
          <p:nvPr/>
        </p:nvSpPr>
        <p:spPr>
          <a:xfrm>
            <a:off x="8321040" y="1965960"/>
            <a:ext cx="594360" cy="594360"/>
          </a:xfrm>
          <a:prstGeom prst="ellipse">
            <a:avLst/>
          </a:prstGeom>
          <a:solidFill>
            <a:schemeClr val="accent4"/>
          </a:solidFill>
          <a:ln w="12700">
            <a:solidFill>
              <a:schemeClr val="accent4"/>
            </a:solidFill>
            <a:prstDash val="solid"/>
          </a:ln>
        </p:spPr>
      </p:sp>
      <p:sp>
        <p:nvSpPr>
          <p:cNvPr id="21" name="Algorithm 3 number"/>
          <p:cNvSpPr txBox="1"/>
          <p:nvPr/>
        </p:nvSpPr>
        <p:spPr>
          <a:xfrm>
            <a:off x="8321040" y="1965960"/>
            <a:ext cx="594360" cy="594360"/>
          </a:xfrm>
          <a:prstGeom prst="rect">
            <a:avLst/>
          </a:prstGeom>
          <a:noFill/>
          <a:ln/>
        </p:spPr>
        <p:txBody>
          <a:bodyPr wrap="square" lIns="0" tIns="0" rIns="0" bIns="0" rtlCol="0" anchor="ctr"/>
          <a:lstStyle/>
          <a:p>
            <a:pPr marL="0" indent="0" algn="ctr">
              <a:buNone/>
            </a:pPr>
            <a:r>
              <a:rPr lang="en-US" sz="1800" b="1" dirty="0">
                <a:solidFill>
                  <a:schemeClr val="tx1"/>
                </a:solidFill>
                <a:latin typeface="Cambria" pitchFamily="34" charset="0"/>
                <a:ea typeface="Cambria" pitchFamily="34" charset="-122"/>
                <a:cs typeface="Cambria" pitchFamily="34" charset="-120"/>
              </a:rPr>
              <a:t>3</a:t>
            </a:r>
            <a:endParaRPr lang="en-US" sz="1800" dirty="0"/>
          </a:p>
        </p:txBody>
      </p:sp>
      <p:sp>
        <p:nvSpPr>
          <p:cNvPr id="22" name="Text 20"/>
          <p:cNvSpPr txBox="1"/>
          <p:nvPr/>
        </p:nvSpPr>
        <p:spPr>
          <a:xfrm>
            <a:off x="8321040" y="2743200"/>
            <a:ext cx="2971800" cy="457200"/>
          </a:xfrm>
          <a:prstGeom prst="rect">
            <a:avLst/>
          </a:prstGeom>
          <a:noFill/>
          <a:ln/>
        </p:spPr>
        <p:txBody>
          <a:bodyPr wrap="square" lIns="0" tIns="0" rIns="0" bIns="0" rtlCol="0" anchor="ctr"/>
          <a:lstStyle/>
          <a:p>
            <a:pPr marL="0" indent="0">
              <a:buNone/>
            </a:pPr>
            <a:r>
              <a:rPr lang="en-US" sz="2100" b="1" dirty="0">
                <a:solidFill>
                  <a:schemeClr val="accent1"/>
                </a:solidFill>
                <a:latin typeface="Cambria" pitchFamily="34" charset="0"/>
                <a:ea typeface="Cambria" pitchFamily="34" charset="-122"/>
                <a:cs typeface="Cambria" pitchFamily="34" charset="-120"/>
              </a:rPr>
              <a:t>Sentence formation</a:t>
            </a:r>
            <a:endParaRPr lang="en-US" sz="2100" dirty="0"/>
          </a:p>
        </p:txBody>
      </p:sp>
      <p:sp>
        <p:nvSpPr>
          <p:cNvPr id="23" name="Text 21"/>
          <p:cNvSpPr txBox="1"/>
          <p:nvPr/>
        </p:nvSpPr>
        <p:spPr>
          <a:xfrm>
            <a:off x="8321040" y="3291840"/>
            <a:ext cx="2971800" cy="1280160"/>
          </a:xfrm>
          <a:prstGeom prst="rect">
            <a:avLst/>
          </a:prstGeom>
          <a:noFill/>
          <a:ln/>
        </p:spPr>
        <p:txBody>
          <a:bodyPr wrap="square" lIns="0" tIns="0" rIns="0" bIns="0" rtlCol="0" anchor="t"/>
          <a:lstStyle/>
          <a:p>
            <a:pPr marL="0" indent="0">
              <a:buNone/>
            </a:pPr>
            <a:r>
              <a:rPr lang="en-US" sz="1700" dirty="0">
                <a:solidFill>
                  <a:schemeClr val="tx1"/>
                </a:solidFill>
              </a:rPr>
              <a:t>Timing gaps between confirmed characters decide word and sentence boundaries.</a:t>
            </a:r>
            <a:endParaRPr lang="en-US" sz="1700" dirty="0"/>
          </a:p>
        </p:txBody>
      </p:sp>
      <p:sp>
        <p:nvSpPr>
          <p:cNvPr id="24" name="Shape 22"/>
          <p:cNvSpPr/>
          <p:nvPr/>
        </p:nvSpPr>
        <p:spPr>
          <a:xfrm>
            <a:off x="8321040" y="4663440"/>
            <a:ext cx="2971800" cy="594360"/>
          </a:xfrm>
          <a:prstGeom prst="roundRect">
            <a:avLst>
              <a:gd name="adj" fmla="val 18462"/>
            </a:avLst>
          </a:prstGeom>
          <a:solidFill>
            <a:schemeClr val="accent4"/>
          </a:solidFill>
          <a:ln w="12700">
            <a:solidFill>
              <a:schemeClr val="accent4"/>
            </a:solidFill>
            <a:prstDash val="solid"/>
          </a:ln>
        </p:spPr>
      </p:sp>
      <p:sp>
        <p:nvSpPr>
          <p:cNvPr id="25" name="Text 23"/>
          <p:cNvSpPr txBox="1"/>
          <p:nvPr/>
        </p:nvSpPr>
        <p:spPr>
          <a:xfrm>
            <a:off x="8321040" y="4663440"/>
            <a:ext cx="2971800" cy="594360"/>
          </a:xfrm>
          <a:prstGeom prst="rect">
            <a:avLst/>
          </a:prstGeom>
          <a:noFill/>
          <a:ln/>
        </p:spPr>
        <p:txBody>
          <a:bodyPr wrap="square" lIns="50800" tIns="50800" rIns="50800" bIns="50800" rtlCol="0" anchor="ctr"/>
          <a:lstStyle/>
          <a:p>
            <a:pPr marL="0" indent="0" algn="ctr">
              <a:buNone/>
            </a:pPr>
            <a:r>
              <a:rPr lang="en-US" sz="1500" b="1" dirty="0">
                <a:solidFill>
                  <a:schemeClr val="tx1"/>
                </a:solidFill>
              </a:rPr>
              <a:t>Gap vs. pause thresholds</a:t>
            </a:r>
            <a:endParaRPr lang="en-US" sz="1500" dirty="0"/>
          </a:p>
        </p:txBody>
      </p:sp>
      <p:sp>
        <p:nvSpPr>
          <p:cNvPr id="26" name="Text 24"/>
          <p:cNvSpPr txBox="1"/>
          <p:nvPr/>
        </p:nvSpPr>
        <p:spPr>
          <a:xfrm>
            <a:off x="8321040" y="5394960"/>
            <a:ext cx="2971800" cy="594360"/>
          </a:xfrm>
          <a:prstGeom prst="rect">
            <a:avLst/>
          </a:prstGeom>
          <a:noFill/>
          <a:ln/>
        </p:spPr>
        <p:txBody>
          <a:bodyPr wrap="square" lIns="0" tIns="0" rIns="0" bIns="0" rtlCol="0" anchor="t"/>
          <a:lstStyle/>
          <a:p>
            <a:pPr marL="0" indent="0">
              <a:buNone/>
            </a:pPr>
            <a:r>
              <a:rPr lang="en-US" sz="1600" b="1" dirty="0">
                <a:solidFill>
                  <a:schemeClr val="accent1"/>
                </a:solidFill>
              </a:rPr>
              <a:t>Short pause = word, long = sentence</a:t>
            </a:r>
            <a:endParaRPr lang="en-US" sz="1600" dirty="0"/>
          </a:p>
        </p:txBody>
      </p:sp>
      <p:sp>
        <p:nvSpPr>
          <p:cNvPr id="27"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10881360" cy="914400"/>
          </a:xfrm>
          <a:prstGeom prst="rect">
            <a:avLst/>
          </a:prstGeom>
          <a:noFill/>
          <a:ln/>
        </p:spPr>
        <p:txBody>
          <a:bodyPr wrap="square" lIns="0" tIns="0" rIns="0" bIns="0" rtlCol="0" anchor="ctr"/>
          <a:lstStyle/>
          <a:p>
            <a:pPr marL="0" indent="0" algn="l">
              <a:buNone/>
            </a:pPr>
            <a:r>
              <a:rPr lang="en-US" sz="4000" b="1" dirty="0">
                <a:solidFill>
                  <a:schemeClr val="tx1"/>
                </a:solidFill>
              </a:rPr>
              <a:t>The app in action</a:t>
            </a:r>
            <a:endParaRPr lang="en-US" sz="4000" dirty="0"/>
          </a:p>
        </p:txBody>
      </p:sp>
      <p:pic>
        <p:nvPicPr>
          <p:cNvPr id="3" name="Character recognition screenshot" descr="Live recognition of a single Nepali character with 99.9% confidence"/>
          <p:cNvPicPr>
            <a:picLocks noChangeAspect="1"/>
          </p:cNvPicPr>
          <p:nvPr/>
        </p:nvPicPr>
        <p:blipFill>
          <a:blip r:embed="rId3"/>
          <a:stretch>
            <a:fillRect/>
          </a:stretch>
        </p:blipFill>
        <p:spPr>
          <a:xfrm>
            <a:off x="822960" y="1691640"/>
            <a:ext cx="3589361" cy="4572000"/>
          </a:xfrm>
          <a:prstGeom prst="rect">
            <a:avLst/>
          </a:prstGeom>
        </p:spPr>
      </p:pic>
      <p:pic>
        <p:nvPicPr>
          <p:cNvPr id="4" name="Word recognition screenshot" descr="Recognised letters combined into a Nepali word with Speak button"/>
          <p:cNvPicPr>
            <a:picLocks noChangeAspect="1"/>
          </p:cNvPicPr>
          <p:nvPr/>
        </p:nvPicPr>
        <p:blipFill>
          <a:blip r:embed="rId4"/>
          <a:stretch>
            <a:fillRect/>
          </a:stretch>
        </p:blipFill>
        <p:spPr>
          <a:xfrm>
            <a:off x="4572000" y="1691640"/>
            <a:ext cx="2695728" cy="4572000"/>
          </a:xfrm>
          <a:prstGeom prst="rect">
            <a:avLst/>
          </a:prstGeom>
        </p:spPr>
      </p:pic>
      <p:sp>
        <p:nvSpPr>
          <p:cNvPr id="5" name="Demo notes card"/>
          <p:cNvSpPr/>
          <p:nvPr/>
        </p:nvSpPr>
        <p:spPr>
          <a:xfrm>
            <a:off x="8138160" y="1737360"/>
            <a:ext cx="3429000" cy="4434840"/>
          </a:xfrm>
          <a:prstGeom prst="roundRect">
            <a:avLst>
              <a:gd name="adj" fmla="val 4000"/>
            </a:avLst>
          </a:prstGeom>
          <a:solidFill>
            <a:schemeClr val="accent5"/>
          </a:solidFill>
          <a:ln w="9525">
            <a:solidFill>
              <a:srgbClr val="E1E4F7"/>
            </a:solidFill>
            <a:prstDash val="solid"/>
          </a:ln>
          <a:effectLst>
            <a:outerShdw blurRad="101600" dist="25400" dir="5400000" algn="bl" rotWithShape="0">
              <a:srgbClr val="5B63C4">
                <a:alpha val="12000"/>
              </a:srgbClr>
            </a:outerShdw>
          </a:effectLst>
        </p:spPr>
      </p:sp>
      <p:sp>
        <p:nvSpPr>
          <p:cNvPr id="6" name="Text 2"/>
          <p:cNvSpPr txBox="1"/>
          <p:nvPr/>
        </p:nvSpPr>
        <p:spPr>
          <a:xfrm>
            <a:off x="8412480" y="1920240"/>
            <a:ext cx="2926080" cy="457200"/>
          </a:xfrm>
          <a:prstGeom prst="rect">
            <a:avLst/>
          </a:prstGeom>
          <a:noFill/>
          <a:ln/>
        </p:spPr>
        <p:txBody>
          <a:bodyPr wrap="square" lIns="0" tIns="0" rIns="0" bIns="0" rtlCol="0" anchor="ctr"/>
          <a:lstStyle/>
          <a:p>
            <a:pPr marL="0" indent="0">
              <a:buNone/>
            </a:pPr>
            <a:r>
              <a:rPr lang="en-US" sz="2000" b="1" dirty="0">
                <a:solidFill>
                  <a:schemeClr val="accent1"/>
                </a:solidFill>
                <a:latin typeface="Cambria" pitchFamily="34" charset="0"/>
                <a:ea typeface="Cambria" pitchFamily="34" charset="-122"/>
                <a:cs typeface="Cambria" pitchFamily="34" charset="-120"/>
              </a:rPr>
              <a:t>What you see</a:t>
            </a:r>
            <a:endParaRPr lang="en-US" sz="2000" dirty="0"/>
          </a:p>
        </p:txBody>
      </p:sp>
      <p:sp>
        <p:nvSpPr>
          <p:cNvPr id="7" name="Text 3"/>
          <p:cNvSpPr txBox="1"/>
          <p:nvPr/>
        </p:nvSpPr>
        <p:spPr>
          <a:xfrm>
            <a:off x="8412480" y="2560320"/>
            <a:ext cx="2926080" cy="347472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tx1"/>
                </a:solidFill>
              </a:rPr>
              <a:t>Live prediction with confidence score</a:t>
            </a:r>
            <a:endParaRPr lang="en-US" sz="1800" dirty="0"/>
          </a:p>
          <a:p>
            <a:pPr marL="342900" indent="-342900">
              <a:spcAft>
                <a:spcPts val="800"/>
              </a:spcAft>
              <a:buSzPct val="100000"/>
              <a:buChar char="•"/>
            </a:pPr>
            <a:r>
              <a:rPr lang="en-US" sz="1800" dirty="0">
                <a:solidFill>
                  <a:schemeClr val="tx1"/>
                </a:solidFill>
              </a:rPr>
              <a:t>Hold-to-confirm progress bar</a:t>
            </a:r>
            <a:endParaRPr lang="en-US" sz="1800" dirty="0"/>
          </a:p>
          <a:p>
            <a:pPr marL="342900" indent="-342900">
              <a:spcAft>
                <a:spcPts val="800"/>
              </a:spcAft>
              <a:buSzPct val="100000"/>
              <a:buChar char="•"/>
            </a:pPr>
            <a:r>
              <a:rPr lang="en-US" sz="1800" dirty="0">
                <a:solidFill>
                  <a:schemeClr val="tx1"/>
                </a:solidFill>
              </a:rPr>
              <a:t>Letters collected into a word</a:t>
            </a:r>
            <a:endParaRPr lang="en-US" sz="1800" dirty="0"/>
          </a:p>
          <a:p>
            <a:pPr marL="342900" indent="-342900">
              <a:spcAft>
                <a:spcPts val="800"/>
              </a:spcAft>
              <a:buSzPct val="100000"/>
              <a:buChar char="•"/>
            </a:pPr>
            <a:r>
              <a:rPr lang="en-US" sz="1800" dirty="0">
                <a:solidFill>
                  <a:schemeClr val="tx1"/>
                </a:solidFill>
              </a:rPr>
              <a:t>Speak, Undo and Clear controls</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10881360" cy="914400"/>
          </a:xfrm>
          <a:prstGeom prst="rect">
            <a:avLst/>
          </a:prstGeom>
          <a:noFill/>
          <a:ln/>
        </p:spPr>
        <p:txBody>
          <a:bodyPr wrap="square" lIns="0" tIns="0" rIns="0" bIns="0" rtlCol="0" anchor="ctr"/>
          <a:lstStyle/>
          <a:p>
            <a:pPr marL="0" indent="0" algn="l">
              <a:buNone/>
            </a:pPr>
            <a:r>
              <a:rPr lang="en-US" sz="4000" b="1" dirty="0">
                <a:solidFill>
                  <a:schemeClr val="tx1"/>
                </a:solidFill>
              </a:rPr>
              <a:t>Model performance</a:t>
            </a:r>
            <a:endParaRPr lang="en-US" sz="4000" dirty="0"/>
          </a:p>
        </p:txBody>
      </p:sp>
      <p:sp>
        <p:nvSpPr>
          <p:cNvPr id="3" name="Accuracy card"/>
          <p:cNvSpPr/>
          <p:nvPr/>
        </p:nvSpPr>
        <p:spPr>
          <a:xfrm>
            <a:off x="640080" y="1737360"/>
            <a:ext cx="4206240" cy="4434840"/>
          </a:xfrm>
          <a:prstGeom prst="roundRect">
            <a:avLst>
              <a:gd name="adj" fmla="val 3261"/>
            </a:avLst>
          </a:prstGeom>
          <a:solidFill>
            <a:schemeClr val="bg1"/>
          </a:solidFill>
          <a:ln w="9525">
            <a:solidFill>
              <a:srgbClr val="E1E4F7"/>
            </a:solidFill>
            <a:prstDash val="solid"/>
          </a:ln>
          <a:effectLst>
            <a:outerShdw blurRad="101600" dist="25400" dir="5400000" algn="bl" rotWithShape="0">
              <a:srgbClr val="5B63C4">
                <a:alpha val="12000"/>
              </a:srgbClr>
            </a:outerShdw>
          </a:effectLst>
        </p:spPr>
      </p:sp>
      <p:sp>
        <p:nvSpPr>
          <p:cNvPr id="4" name="Text 2"/>
          <p:cNvSpPr txBox="1"/>
          <p:nvPr/>
        </p:nvSpPr>
        <p:spPr>
          <a:xfrm>
            <a:off x="868680" y="2194560"/>
            <a:ext cx="3749040" cy="1371600"/>
          </a:xfrm>
          <a:prstGeom prst="rect">
            <a:avLst/>
          </a:prstGeom>
          <a:noFill/>
          <a:ln/>
        </p:spPr>
        <p:txBody>
          <a:bodyPr wrap="square" lIns="0" tIns="0" rIns="0" bIns="0" rtlCol="0" anchor="ctr"/>
          <a:lstStyle/>
          <a:p>
            <a:pPr marL="0" indent="0" algn="ctr">
              <a:buNone/>
            </a:pPr>
            <a:r>
              <a:rPr lang="en-US" sz="6600" b="1" dirty="0">
                <a:solidFill>
                  <a:schemeClr val="accent1"/>
                </a:solidFill>
                <a:latin typeface="Cambria" pitchFamily="34" charset="0"/>
                <a:ea typeface="Cambria" pitchFamily="34" charset="-122"/>
                <a:cs typeface="Cambria" pitchFamily="34" charset="-120"/>
              </a:rPr>
              <a:t>94.23%</a:t>
            </a:r>
            <a:endParaRPr lang="en-US" sz="6600" dirty="0"/>
          </a:p>
        </p:txBody>
      </p:sp>
      <p:sp>
        <p:nvSpPr>
          <p:cNvPr id="5" name="Text 3"/>
          <p:cNvSpPr txBox="1"/>
          <p:nvPr/>
        </p:nvSpPr>
        <p:spPr>
          <a:xfrm>
            <a:off x="868680" y="3611880"/>
            <a:ext cx="3749040" cy="457200"/>
          </a:xfrm>
          <a:prstGeom prst="rect">
            <a:avLst/>
          </a:prstGeom>
          <a:noFill/>
          <a:ln/>
        </p:spPr>
        <p:txBody>
          <a:bodyPr wrap="square" lIns="0" tIns="0" rIns="0" bIns="0" rtlCol="0" anchor="ctr"/>
          <a:lstStyle/>
          <a:p>
            <a:pPr marL="0" indent="0" algn="ctr">
              <a:buNone/>
            </a:pPr>
            <a:r>
              <a:rPr lang="en-US" sz="2000" b="1" dirty="0">
                <a:solidFill>
                  <a:schemeClr val="tx1"/>
                </a:solidFill>
              </a:rPr>
              <a:t>test accuracy</a:t>
            </a:r>
            <a:endParaRPr lang="en-US" sz="2000" dirty="0"/>
          </a:p>
        </p:txBody>
      </p:sp>
      <p:sp>
        <p:nvSpPr>
          <p:cNvPr id="6" name="Text 4"/>
          <p:cNvSpPr txBox="1"/>
          <p:nvPr/>
        </p:nvSpPr>
        <p:spPr>
          <a:xfrm>
            <a:off x="914400" y="4206240"/>
            <a:ext cx="3657600" cy="1737360"/>
          </a:xfrm>
          <a:prstGeom prst="rect">
            <a:avLst/>
          </a:prstGeom>
          <a:noFill/>
          <a:ln/>
        </p:spPr>
        <p:txBody>
          <a:bodyPr wrap="square" lIns="0" tIns="0" rIns="0" bIns="0" rtlCol="0" anchor="t"/>
          <a:lstStyle/>
          <a:p>
            <a:pPr marL="0" indent="0" algn="ctr">
              <a:buNone/>
            </a:pPr>
            <a:r>
              <a:rPr lang="en-US" sz="1700" dirty="0">
                <a:solidFill>
                  <a:schemeClr val="tx2"/>
                </a:solidFill>
              </a:rPr>
              <a:t>across all 36 consonant classes. Training and validation curves stay close together, so the model generalises well.</a:t>
            </a:r>
            <a:endParaRPr lang="en-US" sz="1700" dirty="0"/>
          </a:p>
        </p:txBody>
      </p:sp>
      <p:sp>
        <p:nvSpPr>
          <p:cNvPr id="7" name="Metrics chart card"/>
          <p:cNvSpPr/>
          <p:nvPr/>
        </p:nvSpPr>
        <p:spPr>
          <a:xfrm>
            <a:off x="5120640" y="1737360"/>
            <a:ext cx="6446520" cy="4434840"/>
          </a:xfrm>
          <a:prstGeom prst="roundRect">
            <a:avLst>
              <a:gd name="adj" fmla="val 3093"/>
            </a:avLst>
          </a:prstGeom>
          <a:solidFill>
            <a:schemeClr val="bg1"/>
          </a:solidFill>
          <a:ln w="9525">
            <a:solidFill>
              <a:srgbClr val="E1E4F7"/>
            </a:solidFill>
            <a:prstDash val="solid"/>
          </a:ln>
          <a:effectLst>
            <a:outerShdw blurRad="101600" dist="25400" dir="5400000" algn="bl" rotWithShape="0">
              <a:srgbClr val="5B63C4">
                <a:alpha val="12000"/>
              </a:srgbClr>
            </a:outerShdw>
          </a:effectLst>
        </p:spPr>
      </p:sp>
      <p:graphicFrame>
        <p:nvGraphicFramePr>
          <p:cNvPr id="8" name="Chart 0"/>
          <p:cNvGraphicFramePr/>
          <p:nvPr/>
        </p:nvGraphicFramePr>
        <p:xfrm>
          <a:off x="5303520" y="1828800"/>
          <a:ext cx="6080760" cy="4251960"/>
        </p:xfrm>
        <a:graphic>
          <a:graphicData uri="http://schemas.openxmlformats.org/drawingml/2006/chart">
            <c:chart xmlns:c="http://schemas.openxmlformats.org/drawingml/2006/chart" xmlns:r="http://schemas.openxmlformats.org/officeDocument/2006/relationships" r:id="rId3"/>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10881360" cy="914400"/>
          </a:xfrm>
          <a:prstGeom prst="rect">
            <a:avLst/>
          </a:prstGeom>
          <a:noFill/>
          <a:ln/>
        </p:spPr>
        <p:txBody>
          <a:bodyPr wrap="square" lIns="0" tIns="0" rIns="0" bIns="0" rtlCol="0" anchor="ctr"/>
          <a:lstStyle/>
          <a:p>
            <a:pPr marL="0" indent="0" algn="l">
              <a:buNone/>
            </a:pPr>
            <a:r>
              <a:rPr lang="en-US" sz="4000" b="1" dirty="0">
                <a:solidFill>
                  <a:schemeClr val="tx1"/>
                </a:solidFill>
              </a:rPr>
              <a:t>Where the model gets confused</a:t>
            </a:r>
            <a:endParaRPr lang="en-US" sz="4000" dirty="0"/>
          </a:p>
        </p:txBody>
      </p:sp>
      <p:sp>
        <p:nvSpPr>
          <p:cNvPr id="3" name="Matrix card"/>
          <p:cNvSpPr/>
          <p:nvPr/>
        </p:nvSpPr>
        <p:spPr>
          <a:xfrm>
            <a:off x="640080" y="1737360"/>
            <a:ext cx="5045430" cy="4434840"/>
          </a:xfrm>
          <a:prstGeom prst="roundRect">
            <a:avLst>
              <a:gd name="adj" fmla="val 3093"/>
            </a:avLst>
          </a:prstGeom>
          <a:solidFill>
            <a:schemeClr val="bg1"/>
          </a:solidFill>
          <a:ln w="9525">
            <a:solidFill>
              <a:srgbClr val="E1E4F7"/>
            </a:solidFill>
            <a:prstDash val="solid"/>
          </a:ln>
          <a:effectLst>
            <a:outerShdw blurRad="101600" dist="25400" dir="5400000" algn="bl" rotWithShape="0">
              <a:srgbClr val="5B63C4">
                <a:alpha val="12000"/>
              </a:srgbClr>
            </a:outerShdw>
          </a:effectLst>
        </p:spPr>
      </p:sp>
      <p:pic>
        <p:nvPicPr>
          <p:cNvPr id="4" name="Confusion matrix" descr="Confusion matrix of the 36 classes on the test set with a strong diagonal"/>
          <p:cNvPicPr>
            <a:picLocks noChangeAspect="1"/>
          </p:cNvPicPr>
          <p:nvPr/>
        </p:nvPicPr>
        <p:blipFill>
          <a:blip r:embed="rId3"/>
          <a:stretch>
            <a:fillRect/>
          </a:stretch>
        </p:blipFill>
        <p:spPr>
          <a:xfrm>
            <a:off x="822960" y="1920240"/>
            <a:ext cx="4679670" cy="4069080"/>
          </a:xfrm>
          <a:prstGeom prst="rect">
            <a:avLst/>
          </a:prstGeom>
        </p:spPr>
      </p:pic>
      <p:sp>
        <p:nvSpPr>
          <p:cNvPr id="5" name="Insights card"/>
          <p:cNvSpPr/>
          <p:nvPr/>
        </p:nvSpPr>
        <p:spPr>
          <a:xfrm>
            <a:off x="5959830" y="1737360"/>
            <a:ext cx="5607330" cy="4434840"/>
          </a:xfrm>
          <a:prstGeom prst="roundRect">
            <a:avLst>
              <a:gd name="adj" fmla="val 3093"/>
            </a:avLst>
          </a:prstGeom>
          <a:solidFill>
            <a:schemeClr val="accent5"/>
          </a:solidFill>
          <a:ln w="9525">
            <a:solidFill>
              <a:srgbClr val="E1E4F7"/>
            </a:solidFill>
            <a:prstDash val="solid"/>
          </a:ln>
          <a:effectLst>
            <a:outerShdw blurRad="101600" dist="25400" dir="5400000" algn="bl" rotWithShape="0">
              <a:srgbClr val="5B63C4">
                <a:alpha val="12000"/>
              </a:srgbClr>
            </a:outerShdw>
          </a:effectLst>
        </p:spPr>
      </p:sp>
      <p:sp>
        <p:nvSpPr>
          <p:cNvPr id="6" name="Text 3"/>
          <p:cNvSpPr txBox="1"/>
          <p:nvPr/>
        </p:nvSpPr>
        <p:spPr>
          <a:xfrm>
            <a:off x="6234150" y="1920240"/>
            <a:ext cx="2743200" cy="457200"/>
          </a:xfrm>
          <a:prstGeom prst="rect">
            <a:avLst/>
          </a:prstGeom>
          <a:noFill/>
          <a:ln/>
        </p:spPr>
        <p:txBody>
          <a:bodyPr wrap="square" lIns="0" tIns="0" rIns="0" bIns="0" rtlCol="0" anchor="ctr"/>
          <a:lstStyle/>
          <a:p>
            <a:pPr marL="0" indent="0">
              <a:buNone/>
            </a:pPr>
            <a:r>
              <a:rPr lang="en-US" sz="2000" b="1" dirty="0">
                <a:solidFill>
                  <a:schemeClr val="accent1"/>
                </a:solidFill>
                <a:latin typeface="Cambria" pitchFamily="34" charset="0"/>
                <a:ea typeface="Cambria" pitchFamily="34" charset="-122"/>
                <a:cs typeface="Cambria" pitchFamily="34" charset="-120"/>
              </a:rPr>
              <a:t>Takeaways</a:t>
            </a:r>
            <a:endParaRPr lang="en-US" sz="2000" dirty="0"/>
          </a:p>
        </p:txBody>
      </p:sp>
      <p:sp>
        <p:nvSpPr>
          <p:cNvPr id="7" name="Text 4"/>
          <p:cNvSpPr txBox="1"/>
          <p:nvPr/>
        </p:nvSpPr>
        <p:spPr>
          <a:xfrm>
            <a:off x="6234150" y="2560320"/>
            <a:ext cx="5058690" cy="34747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Strong diagonal: most classes are recognised almost perfectly</a:t>
            </a:r>
            <a:endParaRPr lang="en-US" sz="1600" dirty="0"/>
          </a:p>
          <a:p>
            <a:pPr marL="342900" indent="-342900">
              <a:spcAft>
                <a:spcPts val="800"/>
              </a:spcAft>
              <a:buSzPct val="100000"/>
              <a:buChar char="•"/>
            </a:pPr>
            <a:r>
              <a:rPr lang="en-US" sz="1600" dirty="0">
                <a:solidFill>
                  <a:schemeClr val="tx1"/>
                </a:solidFill>
              </a:rPr>
              <a:t>Errors come from visually similar hand shapes</a:t>
            </a:r>
            <a:endParaRPr lang="en-US" sz="1600" dirty="0"/>
          </a:p>
          <a:p>
            <a:pPr marL="342900" indent="-342900">
              <a:spcAft>
                <a:spcPts val="800"/>
              </a:spcAft>
              <a:buSzPct val="100000"/>
              <a:buChar char="•"/>
            </a:pPr>
            <a:r>
              <a:rPr lang="en-US" sz="1600" dirty="0">
                <a:solidFill>
                  <a:schemeClr val="tx1"/>
                </a:solidFill>
              </a:rPr>
              <a:t>Largest confusion: ठ is sometimes read as ट</a:t>
            </a:r>
            <a:endParaRPr lang="en-US" sz="1600" dirty="0"/>
          </a:p>
          <a:p>
            <a:pPr marL="342900" indent="-342900">
              <a:spcAft>
                <a:spcPts val="800"/>
              </a:spcAft>
              <a:buSzPct val="100000"/>
              <a:buChar char="•"/>
            </a:pPr>
            <a:r>
              <a:rPr lang="en-US" sz="1600" dirty="0">
                <a:solidFill>
                  <a:schemeClr val="tx1"/>
                </a:solidFill>
              </a:rPr>
              <a:t>More samples and better features can close the gap</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10881360" cy="914400"/>
          </a:xfrm>
          <a:prstGeom prst="rect">
            <a:avLst/>
          </a:prstGeom>
          <a:noFill/>
          <a:ln/>
        </p:spPr>
        <p:txBody>
          <a:bodyPr wrap="square" lIns="0" tIns="0" rIns="0" bIns="0" rtlCol="0" anchor="ctr"/>
          <a:lstStyle/>
          <a:p>
            <a:pPr marL="0" indent="0" algn="l">
              <a:buNone/>
            </a:pPr>
            <a:r>
              <a:rPr lang="en-US" sz="4000" b="1" dirty="0">
                <a:solidFill>
                  <a:schemeClr val="tx1"/>
                </a:solidFill>
              </a:rPr>
              <a:t>Testing and results</a:t>
            </a:r>
            <a:endParaRPr lang="en-US" sz="4000" dirty="0"/>
          </a:p>
        </p:txBody>
      </p:sp>
      <p:sp>
        <p:nvSpPr>
          <p:cNvPr id="3" name="Test card 1"/>
          <p:cNvSpPr/>
          <p:nvPr/>
        </p:nvSpPr>
        <p:spPr>
          <a:xfrm>
            <a:off x="640080" y="1737360"/>
            <a:ext cx="5394960" cy="3566160"/>
          </a:xfrm>
          <a:prstGeom prst="roundRect">
            <a:avLst>
              <a:gd name="adj" fmla="val 3846"/>
            </a:avLst>
          </a:prstGeom>
          <a:solidFill>
            <a:schemeClr val="bg1"/>
          </a:solidFill>
          <a:ln w="9525">
            <a:solidFill>
              <a:srgbClr val="E1E4F7"/>
            </a:solidFill>
            <a:prstDash val="solid"/>
          </a:ln>
          <a:effectLst>
            <a:outerShdw blurRad="101600" dist="25400" dir="5400000" algn="bl" rotWithShape="0">
              <a:srgbClr val="5B63C4">
                <a:alpha val="12000"/>
              </a:srgbClr>
            </a:outerShdw>
          </a:effectLst>
        </p:spPr>
      </p:sp>
      <p:sp>
        <p:nvSpPr>
          <p:cNvPr id="4" name="Text 2"/>
          <p:cNvSpPr txBox="1"/>
          <p:nvPr/>
        </p:nvSpPr>
        <p:spPr>
          <a:xfrm>
            <a:off x="1005840" y="1920240"/>
            <a:ext cx="4663440" cy="1280160"/>
          </a:xfrm>
          <a:prstGeom prst="rect">
            <a:avLst/>
          </a:prstGeom>
          <a:noFill/>
          <a:ln/>
        </p:spPr>
        <p:txBody>
          <a:bodyPr wrap="square" lIns="0" tIns="0" rIns="0" bIns="0" rtlCol="0" anchor="ctr"/>
          <a:lstStyle/>
          <a:p>
            <a:pPr marL="0" indent="0">
              <a:buNone/>
            </a:pPr>
            <a:r>
              <a:rPr lang="en-US" sz="6600" b="1" dirty="0">
                <a:solidFill>
                  <a:schemeClr val="accent1"/>
                </a:solidFill>
                <a:latin typeface="Cambria" pitchFamily="34" charset="0"/>
                <a:ea typeface="Cambria" pitchFamily="34" charset="-122"/>
                <a:cs typeface="Cambria" pitchFamily="34" charset="-120"/>
              </a:rPr>
              <a:t>60 / 60</a:t>
            </a:r>
            <a:endParaRPr lang="en-US" sz="6600" dirty="0"/>
          </a:p>
        </p:txBody>
      </p:sp>
      <p:sp>
        <p:nvSpPr>
          <p:cNvPr id="5" name="Text 3"/>
          <p:cNvSpPr txBox="1"/>
          <p:nvPr/>
        </p:nvSpPr>
        <p:spPr>
          <a:xfrm>
            <a:off x="1005840" y="3200400"/>
            <a:ext cx="4663440" cy="457200"/>
          </a:xfrm>
          <a:prstGeom prst="rect">
            <a:avLst/>
          </a:prstGeom>
          <a:noFill/>
          <a:ln/>
        </p:spPr>
        <p:txBody>
          <a:bodyPr wrap="square" lIns="0" tIns="0" rIns="0" bIns="0" rtlCol="0" anchor="ctr"/>
          <a:lstStyle/>
          <a:p>
            <a:pPr marL="0" indent="0">
              <a:buNone/>
            </a:pPr>
            <a:r>
              <a:rPr lang="en-US" sz="2200" b="1" dirty="0">
                <a:solidFill>
                  <a:schemeClr val="tx1"/>
                </a:solidFill>
              </a:rPr>
              <a:t>unit tests passed</a:t>
            </a:r>
            <a:endParaRPr lang="en-US" sz="2200" dirty="0"/>
          </a:p>
        </p:txBody>
      </p:sp>
      <p:sp>
        <p:nvSpPr>
          <p:cNvPr id="6" name="Text 4"/>
          <p:cNvSpPr txBox="1"/>
          <p:nvPr/>
        </p:nvSpPr>
        <p:spPr>
          <a:xfrm>
            <a:off x="1005840" y="3749040"/>
            <a:ext cx="4663440" cy="1371600"/>
          </a:xfrm>
          <a:prstGeom prst="rect">
            <a:avLst/>
          </a:prstGeom>
          <a:noFill/>
          <a:ln/>
        </p:spPr>
        <p:txBody>
          <a:bodyPr wrap="square" lIns="0" tIns="0" rIns="0" bIns="0" rtlCol="0" anchor="t"/>
          <a:lstStyle/>
          <a:p>
            <a:pPr marL="0" indent="0">
              <a:buNone/>
            </a:pPr>
            <a:r>
              <a:rPr lang="en-US" sz="1700" dirty="0">
                <a:solidFill>
                  <a:schemeClr val="tx2"/>
                </a:solidFill>
              </a:rPr>
              <a:t>Collector app: capture, labels, export (28). Recognition app: camera, MediaPipe, MLP, stabilisation, speech (32).</a:t>
            </a:r>
            <a:endParaRPr lang="en-US" sz="1700" dirty="0"/>
          </a:p>
        </p:txBody>
      </p:sp>
      <p:sp>
        <p:nvSpPr>
          <p:cNvPr id="7" name="Test card 2"/>
          <p:cNvSpPr/>
          <p:nvPr/>
        </p:nvSpPr>
        <p:spPr>
          <a:xfrm>
            <a:off x="6355080" y="1737360"/>
            <a:ext cx="5394960" cy="3566160"/>
          </a:xfrm>
          <a:prstGeom prst="roundRect">
            <a:avLst>
              <a:gd name="adj" fmla="val 3846"/>
            </a:avLst>
          </a:prstGeom>
          <a:solidFill>
            <a:schemeClr val="bg1"/>
          </a:solidFill>
          <a:ln w="9525">
            <a:solidFill>
              <a:srgbClr val="E1E4F7"/>
            </a:solidFill>
            <a:prstDash val="solid"/>
          </a:ln>
          <a:effectLst>
            <a:outerShdw blurRad="101600" dist="25400" dir="5400000" algn="bl" rotWithShape="0">
              <a:srgbClr val="5B63C4">
                <a:alpha val="12000"/>
              </a:srgbClr>
            </a:outerShdw>
          </a:effectLst>
        </p:spPr>
      </p:sp>
      <p:sp>
        <p:nvSpPr>
          <p:cNvPr id="8" name="Text 6"/>
          <p:cNvSpPr txBox="1"/>
          <p:nvPr/>
        </p:nvSpPr>
        <p:spPr>
          <a:xfrm>
            <a:off x="6720840" y="1920240"/>
            <a:ext cx="4663440" cy="1280160"/>
          </a:xfrm>
          <a:prstGeom prst="rect">
            <a:avLst/>
          </a:prstGeom>
          <a:noFill/>
          <a:ln/>
        </p:spPr>
        <p:txBody>
          <a:bodyPr wrap="square" lIns="0" tIns="0" rIns="0" bIns="0" rtlCol="0" anchor="ctr"/>
          <a:lstStyle/>
          <a:p>
            <a:pPr marL="0" indent="0">
              <a:buNone/>
            </a:pPr>
            <a:r>
              <a:rPr lang="en-US" sz="6600" b="1" dirty="0">
                <a:solidFill>
                  <a:schemeClr val="accent1"/>
                </a:solidFill>
                <a:latin typeface="Cambria" pitchFamily="34" charset="0"/>
                <a:ea typeface="Cambria" pitchFamily="34" charset="-122"/>
                <a:cs typeface="Cambria" pitchFamily="34" charset="-120"/>
              </a:rPr>
              <a:t>17 / 17</a:t>
            </a:r>
            <a:endParaRPr lang="en-US" sz="6600" dirty="0"/>
          </a:p>
        </p:txBody>
      </p:sp>
      <p:sp>
        <p:nvSpPr>
          <p:cNvPr id="9" name="Text 7"/>
          <p:cNvSpPr txBox="1"/>
          <p:nvPr/>
        </p:nvSpPr>
        <p:spPr>
          <a:xfrm>
            <a:off x="6720840" y="3200400"/>
            <a:ext cx="4663440" cy="457200"/>
          </a:xfrm>
          <a:prstGeom prst="rect">
            <a:avLst/>
          </a:prstGeom>
          <a:noFill/>
          <a:ln/>
        </p:spPr>
        <p:txBody>
          <a:bodyPr wrap="square" lIns="0" tIns="0" rIns="0" bIns="0" rtlCol="0" anchor="ctr"/>
          <a:lstStyle/>
          <a:p>
            <a:pPr marL="0" indent="0">
              <a:buNone/>
            </a:pPr>
            <a:r>
              <a:rPr lang="en-US" sz="2200" b="1" dirty="0">
                <a:solidFill>
                  <a:schemeClr val="tx1"/>
                </a:solidFill>
              </a:rPr>
              <a:t>system tests passed</a:t>
            </a:r>
            <a:endParaRPr lang="en-US" sz="2200" dirty="0"/>
          </a:p>
        </p:txBody>
      </p:sp>
      <p:sp>
        <p:nvSpPr>
          <p:cNvPr id="10" name="Text 8"/>
          <p:cNvSpPr txBox="1"/>
          <p:nvPr/>
        </p:nvSpPr>
        <p:spPr>
          <a:xfrm>
            <a:off x="6720840" y="3749040"/>
            <a:ext cx="4663440" cy="1371600"/>
          </a:xfrm>
          <a:prstGeom prst="rect">
            <a:avLst/>
          </a:prstGeom>
          <a:noFill/>
          <a:ln/>
        </p:spPr>
        <p:txBody>
          <a:bodyPr wrap="square" lIns="0" tIns="0" rIns="0" bIns="0" rtlCol="0" anchor="t"/>
          <a:lstStyle/>
          <a:p>
            <a:pPr marL="0" indent="0">
              <a:buNone/>
            </a:pPr>
            <a:r>
              <a:rPr lang="en-US" sz="1700" dirty="0">
                <a:solidFill>
                  <a:schemeClr val="tx2"/>
                </a:solidFill>
              </a:rPr>
              <a:t>Collector workflow (7) and recognition workflow (10), including permission denial, invalid hands and end-to-end speech.</a:t>
            </a:r>
            <a:endParaRPr lang="en-US" sz="1700" dirty="0"/>
          </a:p>
        </p:txBody>
      </p:sp>
      <p:sp>
        <p:nvSpPr>
          <p:cNvPr id="11" name="Text 9"/>
          <p:cNvSpPr txBox="1"/>
          <p:nvPr/>
        </p:nvSpPr>
        <p:spPr>
          <a:xfrm>
            <a:off x="640080" y="5577840"/>
            <a:ext cx="10881360" cy="457200"/>
          </a:xfrm>
          <a:prstGeom prst="rect">
            <a:avLst/>
          </a:prstGeom>
          <a:noFill/>
          <a:ln/>
        </p:spPr>
        <p:txBody>
          <a:bodyPr wrap="square" lIns="0" tIns="0" rIns="0" bIns="0" rtlCol="0" anchor="ctr"/>
          <a:lstStyle/>
          <a:p>
            <a:pPr marL="0" indent="0">
              <a:buNone/>
            </a:pPr>
            <a:r>
              <a:rPr lang="en-US" sz="1800" dirty="0">
                <a:solidFill>
                  <a:schemeClr val="tx2"/>
                </a:solidFill>
              </a:rPr>
              <a:t>Every core flow works end to end: start, sign, stabilise, form text, speak, stop.</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10881360" cy="914400"/>
          </a:xfrm>
          <a:prstGeom prst="rect">
            <a:avLst/>
          </a:prstGeom>
          <a:noFill/>
          <a:ln/>
        </p:spPr>
        <p:txBody>
          <a:bodyPr wrap="square" lIns="0" tIns="0" rIns="0" bIns="0" rtlCol="0" anchor="ctr"/>
          <a:lstStyle/>
          <a:p>
            <a:pPr marL="0" indent="0" algn="l">
              <a:buNone/>
            </a:pPr>
            <a:r>
              <a:rPr lang="en-US" sz="4000" b="1" dirty="0">
                <a:solidFill>
                  <a:schemeClr val="tx1"/>
                </a:solidFill>
              </a:rPr>
              <a:t>Conclusion and future work</a:t>
            </a:r>
            <a:endParaRPr lang="en-US" sz="4000" dirty="0"/>
          </a:p>
        </p:txBody>
      </p:sp>
      <p:sp>
        <p:nvSpPr>
          <p:cNvPr id="3" name="Conclusion card"/>
          <p:cNvSpPr/>
          <p:nvPr/>
        </p:nvSpPr>
        <p:spPr>
          <a:xfrm>
            <a:off x="640080" y="1737360"/>
            <a:ext cx="5394960" cy="3657600"/>
          </a:xfrm>
          <a:prstGeom prst="roundRect">
            <a:avLst>
              <a:gd name="adj" fmla="val 3750"/>
            </a:avLst>
          </a:prstGeom>
          <a:solidFill>
            <a:schemeClr val="bg1"/>
          </a:solidFill>
          <a:ln w="9525">
            <a:solidFill>
              <a:srgbClr val="E1E4F7"/>
            </a:solidFill>
            <a:prstDash val="solid"/>
          </a:ln>
          <a:effectLst>
            <a:outerShdw blurRad="101600" dist="25400" dir="5400000" algn="bl" rotWithShape="0">
              <a:srgbClr val="5B63C4">
                <a:alpha val="12000"/>
              </a:srgbClr>
            </a:outerShdw>
          </a:effectLst>
        </p:spPr>
      </p:sp>
      <p:sp>
        <p:nvSpPr>
          <p:cNvPr id="4" name="Text 2"/>
          <p:cNvSpPr txBox="1"/>
          <p:nvPr/>
        </p:nvSpPr>
        <p:spPr>
          <a:xfrm>
            <a:off x="960120" y="1920240"/>
            <a:ext cx="4572000" cy="457200"/>
          </a:xfrm>
          <a:prstGeom prst="rect">
            <a:avLst/>
          </a:prstGeom>
          <a:noFill/>
          <a:ln/>
        </p:spPr>
        <p:txBody>
          <a:bodyPr wrap="square" lIns="0" tIns="0" rIns="0" bIns="0" rtlCol="0" anchor="ctr"/>
          <a:lstStyle/>
          <a:p>
            <a:pPr marL="0" indent="0">
              <a:buNone/>
            </a:pPr>
            <a:r>
              <a:rPr lang="en-US" sz="2200" b="1" dirty="0">
                <a:solidFill>
                  <a:schemeClr val="accent1"/>
                </a:solidFill>
                <a:latin typeface="Cambria" pitchFamily="34" charset="0"/>
                <a:ea typeface="Cambria" pitchFamily="34" charset="-122"/>
                <a:cs typeface="Cambria" pitchFamily="34" charset="-120"/>
              </a:rPr>
              <a:t>Conclusion</a:t>
            </a:r>
            <a:endParaRPr lang="en-US" sz="2200" dirty="0"/>
          </a:p>
        </p:txBody>
      </p:sp>
      <p:sp>
        <p:nvSpPr>
          <p:cNvPr id="5" name="Text 3"/>
          <p:cNvSpPr txBox="1"/>
          <p:nvPr/>
        </p:nvSpPr>
        <p:spPr>
          <a:xfrm>
            <a:off x="960120" y="2560320"/>
            <a:ext cx="4754880" cy="2743200"/>
          </a:xfrm>
          <a:prstGeom prst="rect">
            <a:avLst/>
          </a:prstGeom>
          <a:noFill/>
          <a:ln/>
        </p:spPr>
        <p:txBody>
          <a:bodyPr wrap="square" lIns="0" tIns="0" rIns="0" bIns="0" rtlCol="0" anchor="t"/>
          <a:lstStyle/>
          <a:p>
            <a:pPr marL="342900" indent="-342900">
              <a:spcAft>
                <a:spcPts val="800"/>
              </a:spcAft>
              <a:buSzPct val="100000"/>
              <a:buChar char="•"/>
            </a:pPr>
            <a:r>
              <a:rPr lang="en-US" sz="1900" dirty="0">
                <a:solidFill>
                  <a:schemeClr val="tx1"/>
                </a:solidFill>
              </a:rPr>
              <a:t>Working Android app recognising 36 NSL consonants in real time</a:t>
            </a:r>
            <a:endParaRPr lang="en-US" sz="1900" dirty="0"/>
          </a:p>
          <a:p>
            <a:pPr marL="342900" indent="-342900">
              <a:spcAft>
                <a:spcPts val="800"/>
              </a:spcAft>
              <a:buSzPct val="100000"/>
              <a:buChar char="•"/>
            </a:pPr>
            <a:r>
              <a:rPr lang="en-US" sz="1900" dirty="0">
                <a:solidFill>
                  <a:schemeClr val="tx1"/>
                </a:solidFill>
              </a:rPr>
              <a:t>Fully on-device: text and speech without internet</a:t>
            </a:r>
            <a:endParaRPr lang="en-US" sz="1900" dirty="0"/>
          </a:p>
          <a:p>
            <a:pPr marL="342900" indent="-342900">
              <a:spcAft>
                <a:spcPts val="800"/>
              </a:spcAft>
              <a:buSzPct val="100000"/>
              <a:buChar char="•"/>
            </a:pPr>
            <a:r>
              <a:rPr lang="en-US" sz="1900" dirty="0">
                <a:solidFill>
                  <a:schemeClr val="tx1"/>
                </a:solidFill>
              </a:rPr>
              <a:t>94.23% test accuracy; all unit and system tests passed</a:t>
            </a:r>
            <a:endParaRPr lang="en-US" sz="1900" dirty="0"/>
          </a:p>
        </p:txBody>
      </p:sp>
      <p:sp>
        <p:nvSpPr>
          <p:cNvPr id="6" name="Future card"/>
          <p:cNvSpPr/>
          <p:nvPr/>
        </p:nvSpPr>
        <p:spPr>
          <a:xfrm>
            <a:off x="6309360" y="1737360"/>
            <a:ext cx="5257800" cy="3657600"/>
          </a:xfrm>
          <a:prstGeom prst="roundRect">
            <a:avLst>
              <a:gd name="adj" fmla="val 3750"/>
            </a:avLst>
          </a:prstGeom>
          <a:solidFill>
            <a:schemeClr val="accent5"/>
          </a:solidFill>
          <a:ln w="9525">
            <a:solidFill>
              <a:srgbClr val="E1E4F7"/>
            </a:solidFill>
            <a:prstDash val="solid"/>
          </a:ln>
          <a:effectLst>
            <a:outerShdw blurRad="101600" dist="25400" dir="5400000" algn="bl" rotWithShape="0">
              <a:srgbClr val="5B63C4">
                <a:alpha val="12000"/>
              </a:srgbClr>
            </a:outerShdw>
          </a:effectLst>
        </p:spPr>
      </p:sp>
      <p:sp>
        <p:nvSpPr>
          <p:cNvPr id="7" name="Text 5"/>
          <p:cNvSpPr txBox="1"/>
          <p:nvPr/>
        </p:nvSpPr>
        <p:spPr>
          <a:xfrm>
            <a:off x="6629400" y="1920240"/>
            <a:ext cx="4663440" cy="457200"/>
          </a:xfrm>
          <a:prstGeom prst="rect">
            <a:avLst/>
          </a:prstGeom>
          <a:noFill/>
          <a:ln/>
        </p:spPr>
        <p:txBody>
          <a:bodyPr wrap="square" lIns="0" tIns="0" rIns="0" bIns="0" rtlCol="0" anchor="ctr"/>
          <a:lstStyle/>
          <a:p>
            <a:pPr marL="0" indent="0">
              <a:buNone/>
            </a:pPr>
            <a:r>
              <a:rPr lang="en-US" sz="2200" b="1" dirty="0">
                <a:solidFill>
                  <a:schemeClr val="accent1"/>
                </a:solidFill>
                <a:latin typeface="Cambria" pitchFamily="34" charset="0"/>
                <a:ea typeface="Cambria" pitchFamily="34" charset="-122"/>
                <a:cs typeface="Cambria" pitchFamily="34" charset="-120"/>
              </a:rPr>
              <a:t>Limitations and next steps</a:t>
            </a:r>
            <a:endParaRPr lang="en-US" sz="2200" dirty="0"/>
          </a:p>
        </p:txBody>
      </p:sp>
      <p:sp>
        <p:nvSpPr>
          <p:cNvPr id="8" name="Text 6"/>
          <p:cNvSpPr txBox="1"/>
          <p:nvPr/>
        </p:nvSpPr>
        <p:spPr>
          <a:xfrm>
            <a:off x="6629400" y="2560320"/>
            <a:ext cx="4663440" cy="2743200"/>
          </a:xfrm>
          <a:prstGeom prst="rect">
            <a:avLst/>
          </a:prstGeom>
          <a:noFill/>
          <a:ln/>
        </p:spPr>
        <p:txBody>
          <a:bodyPr wrap="square" lIns="0" tIns="0" rIns="0" bIns="0" rtlCol="0" anchor="t"/>
          <a:lstStyle/>
          <a:p>
            <a:pPr marL="342900" indent="-342900">
              <a:spcAft>
                <a:spcPts val="800"/>
              </a:spcAft>
              <a:buSzPct val="100000"/>
              <a:buChar char="•"/>
            </a:pPr>
            <a:r>
              <a:rPr lang="en-US" sz="1900" dirty="0">
                <a:solidFill>
                  <a:schemeClr val="tx1"/>
                </a:solidFill>
              </a:rPr>
              <a:t>Single-hand, static consonants only</a:t>
            </a:r>
            <a:endParaRPr lang="en-US" sz="1900" dirty="0"/>
          </a:p>
          <a:p>
            <a:pPr marL="342900" indent="-342900">
              <a:spcAft>
                <a:spcPts val="800"/>
              </a:spcAft>
              <a:buSzPct val="100000"/>
              <a:buChar char="•"/>
            </a:pPr>
            <a:r>
              <a:rPr lang="en-US" sz="1900" dirty="0">
                <a:solidFill>
                  <a:schemeClr val="tx1"/>
                </a:solidFill>
              </a:rPr>
              <a:t>Add vowels, numerals and word-level signs</a:t>
            </a:r>
            <a:endParaRPr lang="en-US" sz="1900" dirty="0"/>
          </a:p>
          <a:p>
            <a:pPr marL="342900" indent="-342900">
              <a:spcAft>
                <a:spcPts val="800"/>
              </a:spcAft>
              <a:buSzPct val="100000"/>
              <a:buChar char="•"/>
            </a:pPr>
            <a:r>
              <a:rPr lang="en-US" sz="1900" dirty="0">
                <a:solidFill>
                  <a:schemeClr val="tx1"/>
                </a:solidFill>
              </a:rPr>
              <a:t>Support dynamic and two-handed signs</a:t>
            </a:r>
            <a:endParaRPr lang="en-US" sz="1900" dirty="0"/>
          </a:p>
          <a:p>
            <a:pPr marL="342900" indent="-342900">
              <a:spcAft>
                <a:spcPts val="800"/>
              </a:spcAft>
              <a:buSzPct val="100000"/>
              <a:buChar char="•"/>
            </a:pPr>
            <a:r>
              <a:rPr lang="en-US" sz="1900" dirty="0">
                <a:solidFill>
                  <a:schemeClr val="tx1"/>
                </a:solidFill>
              </a:rPr>
              <a:t>Broader dataset: lighting, backgrounds, skin tones</a:t>
            </a:r>
            <a:endParaRPr lang="en-US" sz="1900" dirty="0"/>
          </a:p>
        </p:txBody>
      </p:sp>
      <p:sp>
        <p:nvSpPr>
          <p:cNvPr id="9" name="Text 7"/>
          <p:cNvSpPr txBox="1"/>
          <p:nvPr/>
        </p:nvSpPr>
        <p:spPr>
          <a:xfrm>
            <a:off x="640080" y="5623560"/>
            <a:ext cx="10927080" cy="731520"/>
          </a:xfrm>
          <a:prstGeom prst="rect">
            <a:avLst/>
          </a:prstGeom>
          <a:noFill/>
          <a:ln/>
        </p:spPr>
        <p:txBody>
          <a:bodyPr wrap="square" lIns="0" tIns="0" rIns="0" bIns="0" rtlCol="0" anchor="ctr"/>
          <a:lstStyle/>
          <a:p>
            <a:pPr marL="0" indent="0" algn="ctr">
              <a:buNone/>
            </a:pPr>
            <a:r>
              <a:rPr lang="en-US" sz="3600" b="1" dirty="0">
                <a:solidFill>
                  <a:schemeClr val="accent1"/>
                </a:solidFill>
                <a:latin typeface="Cambria" pitchFamily="34" charset="0"/>
                <a:ea typeface="Cambria" pitchFamily="34" charset="-122"/>
                <a:cs typeface="Cambria" pitchFamily="34" charset="-120"/>
              </a:rPr>
              <a:t>Thank you.</a:t>
            </a:r>
            <a:endParaRPr lang="en-US" sz="3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12</a:t>
            </a:fld>
            <a:endParaRPr lang="en-US"/>
          </a:p>
        </p:txBody>
      </p:sp>
    </p:spTree>
  </p:cSld>
  <p:clrMapOvr>
    <a:masterClrMapping/>
  </p:clrMapOvr>
</p:sld>
</file>

<file path=ppt/theme/theme1.xml><?xml version="1.0" encoding="utf-8"?>
<a:theme xmlns:a="http://schemas.openxmlformats.org/drawingml/2006/main" name="SignSathi Defence">
  <a:themeElements>
    <a:clrScheme name="SignSathi Defence">
      <a:dk1>
        <a:srgbClr val="2B2F52"/>
      </a:dk1>
      <a:lt1>
        <a:srgbClr val="FFFFFF"/>
      </a:lt1>
      <a:dk2>
        <a:srgbClr val="5F6491"/>
      </a:dk2>
      <a:lt2>
        <a:srgbClr val="EBEDFB"/>
      </a:lt2>
      <a:accent1>
        <a:srgbClr val="5B63C4"/>
      </a:accent1>
      <a:accent2>
        <a:srgbClr val="F5B8A0"/>
      </a:accent2>
      <a:accent3>
        <a:srgbClr val="BFE6D8"/>
      </a:accent3>
      <a:accent4>
        <a:srgbClr val="D8D2F0"/>
      </a:accent4>
      <a:accent5>
        <a:srgbClr val="DFF0E8"/>
      </a:accent5>
      <a:accent6>
        <a:srgbClr val="E8A08A"/>
      </a:accent6>
      <a:hlink>
        <a:srgbClr val="5B63C4"/>
      </a:hlink>
      <a:folHlink>
        <a:srgbClr val="5F6491"/>
      </a:folHlink>
    </a:clrScheme>
    <a:fontScheme name="SignSathi Defe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1117</Words>
  <Application>Microsoft Office PowerPoint</Application>
  <PresentationFormat>Widescreen</PresentationFormat>
  <Paragraphs>172</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SignSathi Defence</vt:lpstr>
      <vt:lpstr>PowerPoint Presentation</vt:lpstr>
      <vt:lpstr>Problem and objectives</vt:lpstr>
      <vt:lpstr>How SignSathi works</vt:lpstr>
      <vt:lpstr>Key features</vt:lpstr>
      <vt:lpstr>Dataset and features</vt:lpstr>
      <vt:lpstr>Model: lightweight MLP</vt:lpstr>
      <vt:lpstr>Algorithms used</vt:lpstr>
      <vt:lpstr>The app in action</vt:lpstr>
      <vt:lpstr>Model performance</vt:lpstr>
      <vt:lpstr>Where the model gets confused</vt:lpstr>
      <vt:lpstr>Testing and results</vt:lpstr>
      <vt:lpstr>Conclusion and future work</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SignSathi: Real-Time Nepali Sign Language Recognition App</dc:title>
  <dc:subject>PptxGenJS Presentation</dc:subject>
  <dc:creator>Arjun Raj Acharya &amp; Asha Mohan Tamang</dc:creator>
  <cp:lastModifiedBy>Arjun</cp:lastModifiedBy>
  <cp:revision>2</cp:revision>
  <dcterms:created xsi:type="dcterms:W3CDTF">2026-10-06T18:21:11Z</dcterms:created>
  <dcterms:modified xsi:type="dcterms:W3CDTF">2026-10-06T18:30:50Z</dcterms:modified>
</cp:coreProperties>
</file>